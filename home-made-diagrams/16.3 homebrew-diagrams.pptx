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87" d="100"/>
          <a:sy n="87" d="100"/>
        </p:scale>
        <p:origin x="1428" y="3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2A9C-825D-92A8-4957-4D7851BE6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CF05F-E3CA-768B-EBE9-29A15AB7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06A45-5F1D-E53A-5765-B0F342A5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0EDAA-5AE2-CD1F-D5D6-2A7239DA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4B3B0-0482-C219-56BF-E4819F32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553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0119-B76F-D494-622D-BD87E1F9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3298-A36E-9340-8E70-6B009E0B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8325-5E7A-6EA7-ABA7-173439E2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EEC4-3AC6-509D-75ED-D3951495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057E-51B9-5D17-2534-A8AE7DB7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413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A3FC-867A-C01A-3F74-335ECF7F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7508B-196A-44CF-5F1A-50C4CEB80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5164B-2DDE-75EA-3A1C-E84DC141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E96D-611D-9FB3-F7C1-50AEBCC7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64912-AD8A-7D66-6210-42704B1D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217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A565-0505-9AB2-F6E4-6FF4C0AC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424F-463F-C67D-9566-B6110CC9F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8DD23-D048-B210-C180-74B799F7D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F6138-5E53-92D7-0891-BC0669E7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B091D-3765-D50F-63A0-02C1A380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59AB6-B320-C517-6004-87AD29E1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348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2ADE-5568-C010-0FEE-9A536F94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CA95-C02B-AD4A-7A35-A59CAE86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A873-8343-BC07-5514-72931EAFE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A2C18-4016-3618-BB2F-AD2B472E1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5A0D6-C0FC-4C8E-18CA-E25079C77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3A83A-31FE-9E70-46F0-D3C2AF74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95D22-00CE-5612-1C72-B34ACB7D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5A9A7-C36F-BF28-1A5F-9542634D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783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29FA-5D6A-88D1-3FCE-01E2F950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9410F-78C6-6826-C2FF-E4D14A1D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E02DC-891F-01C9-0EA0-BA642E60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1C95E-949F-E739-505F-9D017640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08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F6289-5690-32E2-3576-FA191A3D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54A11-8845-BF22-38DB-D99ABC3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02E57-78C3-D107-B671-A23F3B90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054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2419-E425-101C-B32A-3B7417C0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4CBB-A80D-E722-1595-A92D2C2E6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DD1FB-8D18-EC3A-564A-5DD365FFB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F8F11-8C8C-8811-EC00-61B2763C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96E8E-4649-BC53-6869-64ED27E5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E678D-F3E1-097D-F9C0-C1AAD225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565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5244-8897-A9D5-F308-BE421453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062C8-F24D-53C2-BA06-A93169537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169AB-152D-2EED-F69B-093196C57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BA4DA-2773-28AB-984A-AE435A21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336C3-AB2D-65D4-96DA-DC5F50D7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93CB4-9647-495C-DD86-D8BB9205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396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81A6-5B5A-4A5E-1C21-5CCE7E37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7AB5B-169A-D395-8059-CBD1D0836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D73A1-4123-8250-B9C9-4D563030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703F7-368E-BFBB-6D00-5D665513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002B-CC40-5322-0DC3-AEEF24F3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820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4DB7C-9FA0-DD33-194F-DC271DEAF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17D70-1612-B4BA-D5A0-C83651DBB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7BAD5-9410-CD5F-E2A7-669C5DEE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0D014-E5BF-EC7D-9315-A8B4D903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69781-B933-527A-7530-B13B45B3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5770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C018F-8ECB-E09E-889A-AB559BCD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FC42-73E9-88CE-F340-91F4A1A6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66BA-6449-44DF-1B9E-59A6DC2A1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75533-DB06-4534-A69C-64BC6C29CD9D}" type="datetimeFigureOut">
              <a:rPr lang="en-NZ" smtClean="0"/>
              <a:t>19/03/2025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E1D6-B009-14A6-4E24-3C5138C80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17BCB-CDAB-B771-A7C9-64350C69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53F3C-587F-44DF-A079-F3F9C7FDFD0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526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D136E02-1959-C1D8-23AE-CFD97D72DAB9}"/>
              </a:ext>
            </a:extLst>
          </p:cNvPr>
          <p:cNvSpPr/>
          <p:nvPr/>
        </p:nvSpPr>
        <p:spPr>
          <a:xfrm>
            <a:off x="1243886" y="1269185"/>
            <a:ext cx="1615806" cy="1615806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964091-FE33-64B3-7A7A-1057A4FEA179}"/>
              </a:ext>
            </a:extLst>
          </p:cNvPr>
          <p:cNvSpPr/>
          <p:nvPr/>
        </p:nvSpPr>
        <p:spPr>
          <a:xfrm>
            <a:off x="3815556" y="1269185"/>
            <a:ext cx="1615806" cy="1615806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CD1E0C-C259-C499-DF02-E5DE1F6F8B5C}"/>
              </a:ext>
            </a:extLst>
          </p:cNvPr>
          <p:cNvSpPr/>
          <p:nvPr/>
        </p:nvSpPr>
        <p:spPr>
          <a:xfrm>
            <a:off x="6530862" y="1276102"/>
            <a:ext cx="1615806" cy="1615806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91232-36B6-8759-566D-00ADC94A61D2}"/>
              </a:ext>
            </a:extLst>
          </p:cNvPr>
          <p:cNvSpPr/>
          <p:nvPr/>
        </p:nvSpPr>
        <p:spPr>
          <a:xfrm>
            <a:off x="1215771" y="4280584"/>
            <a:ext cx="1615806" cy="1615806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1C6B52-873D-A72D-B236-0A889C6AE6D1}"/>
              </a:ext>
            </a:extLst>
          </p:cNvPr>
          <p:cNvSpPr/>
          <p:nvPr/>
        </p:nvSpPr>
        <p:spPr>
          <a:xfrm>
            <a:off x="3815555" y="4280584"/>
            <a:ext cx="1615806" cy="1615806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52A53F-11F0-75CA-6AE3-925B1B52EB59}"/>
              </a:ext>
            </a:extLst>
          </p:cNvPr>
          <p:cNvSpPr/>
          <p:nvPr/>
        </p:nvSpPr>
        <p:spPr>
          <a:xfrm>
            <a:off x="6530862" y="4280584"/>
            <a:ext cx="1615806" cy="1615806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85C63-990D-C156-6B48-12239BA4D605}"/>
              </a:ext>
            </a:extLst>
          </p:cNvPr>
          <p:cNvSpPr txBox="1"/>
          <p:nvPr/>
        </p:nvSpPr>
        <p:spPr>
          <a:xfrm>
            <a:off x="1444603" y="1594969"/>
            <a:ext cx="1214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1.</a:t>
            </a:r>
          </a:p>
          <a:p>
            <a:pPr algn="ctr"/>
            <a:r>
              <a:rPr lang="en-NZ" sz="1600" dirty="0"/>
              <a:t>Reversible</a:t>
            </a:r>
          </a:p>
          <a:p>
            <a:pPr algn="ctr"/>
            <a:r>
              <a:rPr lang="en-NZ" sz="1600" dirty="0"/>
              <a:t>attachment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B4CD2-34BD-64CF-A603-CD4270B5F7F3}"/>
              </a:ext>
            </a:extLst>
          </p:cNvPr>
          <p:cNvSpPr txBox="1"/>
          <p:nvPr/>
        </p:nvSpPr>
        <p:spPr>
          <a:xfrm>
            <a:off x="3835230" y="1369202"/>
            <a:ext cx="15764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2.</a:t>
            </a:r>
          </a:p>
          <a:p>
            <a:pPr algn="ctr"/>
            <a:r>
              <a:rPr lang="en-NZ" sz="1600" dirty="0"/>
              <a:t>Irreversible</a:t>
            </a:r>
          </a:p>
          <a:p>
            <a:pPr algn="ctr"/>
            <a:r>
              <a:rPr lang="en-NZ" sz="1600" dirty="0"/>
              <a:t>attachment</a:t>
            </a:r>
          </a:p>
          <a:p>
            <a:pPr algn="ctr"/>
            <a:r>
              <a:rPr lang="en-NZ" sz="1600" dirty="0"/>
              <a:t>(microcolonies)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C7C65-99E5-CB2E-5282-4063AAC7F53B}"/>
              </a:ext>
            </a:extLst>
          </p:cNvPr>
          <p:cNvSpPr txBox="1"/>
          <p:nvPr/>
        </p:nvSpPr>
        <p:spPr>
          <a:xfrm>
            <a:off x="6764761" y="1718079"/>
            <a:ext cx="1148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3.</a:t>
            </a:r>
          </a:p>
          <a:p>
            <a:pPr algn="ctr"/>
            <a:r>
              <a:rPr lang="en-NZ" sz="1600" dirty="0"/>
              <a:t>Maturation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54398F-7386-059A-55DB-A2D0B5D61644}"/>
              </a:ext>
            </a:extLst>
          </p:cNvPr>
          <p:cNvSpPr/>
          <p:nvPr/>
        </p:nvSpPr>
        <p:spPr>
          <a:xfrm>
            <a:off x="9164738" y="1276102"/>
            <a:ext cx="1615806" cy="1615806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F97914-B2F8-2055-F760-133A0C50405E}"/>
              </a:ext>
            </a:extLst>
          </p:cNvPr>
          <p:cNvSpPr/>
          <p:nvPr/>
        </p:nvSpPr>
        <p:spPr>
          <a:xfrm>
            <a:off x="9164738" y="4280584"/>
            <a:ext cx="1615806" cy="1615806"/>
          </a:xfrm>
          <a:prstGeom prst="ellipse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1E1B0-606E-7C5F-E3AB-9675BDDBDDC9}"/>
              </a:ext>
            </a:extLst>
          </p:cNvPr>
          <p:cNvSpPr txBox="1"/>
          <p:nvPr/>
        </p:nvSpPr>
        <p:spPr>
          <a:xfrm>
            <a:off x="9377863" y="1718078"/>
            <a:ext cx="1189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4.</a:t>
            </a:r>
          </a:p>
          <a:p>
            <a:pPr algn="ctr"/>
            <a:r>
              <a:rPr lang="en-NZ" sz="1600" dirty="0"/>
              <a:t>Dissipation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BE8332-E929-B4C7-8E62-1E8C99299AAA}"/>
              </a:ext>
            </a:extLst>
          </p:cNvPr>
          <p:cNvSpPr/>
          <p:nvPr/>
        </p:nvSpPr>
        <p:spPr>
          <a:xfrm>
            <a:off x="1114792" y="3108102"/>
            <a:ext cx="9829366" cy="938150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DA1D7-DD7F-EB0D-089C-32B7CDCEF414}"/>
              </a:ext>
            </a:extLst>
          </p:cNvPr>
          <p:cNvSpPr txBox="1"/>
          <p:nvPr/>
        </p:nvSpPr>
        <p:spPr>
          <a:xfrm>
            <a:off x="4894016" y="3392511"/>
            <a:ext cx="2406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c) Unclassified genes?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9BAA7D-54CF-703D-86B3-0A9088D1EFC0}"/>
              </a:ext>
            </a:extLst>
          </p:cNvPr>
          <p:cNvSpPr txBox="1"/>
          <p:nvPr/>
        </p:nvSpPr>
        <p:spPr>
          <a:xfrm>
            <a:off x="11332559" y="4794680"/>
            <a:ext cx="43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Pa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8F9B9A-AF40-A294-E4AC-CA77167CDD35}"/>
              </a:ext>
            </a:extLst>
          </p:cNvPr>
          <p:cNvSpPr txBox="1"/>
          <p:nvPr/>
        </p:nvSpPr>
        <p:spPr>
          <a:xfrm>
            <a:off x="11331213" y="189242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Sa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066965-29D5-5BB9-DC3F-89EA6661EADD}"/>
              </a:ext>
            </a:extLst>
          </p:cNvPr>
          <p:cNvCxnSpPr/>
          <p:nvPr/>
        </p:nvCxnSpPr>
        <p:spPr>
          <a:xfrm>
            <a:off x="11551789" y="2528226"/>
            <a:ext cx="0" cy="1817511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C6049CC-365A-0ED7-541C-6FF1B02E01F9}"/>
              </a:ext>
            </a:extLst>
          </p:cNvPr>
          <p:cNvSpPr txBox="1"/>
          <p:nvPr/>
        </p:nvSpPr>
        <p:spPr>
          <a:xfrm rot="5400000">
            <a:off x="10823260" y="3307810"/>
            <a:ext cx="2102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600" i="1" dirty="0"/>
              <a:t>b) Strain coevolution?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013D25-E6E5-CC3F-5E00-033CF0F546AF}"/>
              </a:ext>
            </a:extLst>
          </p:cNvPr>
          <p:cNvCxnSpPr>
            <a:cxnSpLocks/>
          </p:cNvCxnSpPr>
          <p:nvPr/>
        </p:nvCxnSpPr>
        <p:spPr>
          <a:xfrm flipH="1">
            <a:off x="1961877" y="6287426"/>
            <a:ext cx="8141679" cy="0"/>
          </a:xfrm>
          <a:prstGeom prst="straightConnector1">
            <a:avLst/>
          </a:prstGeom>
          <a:ln w="38100">
            <a:solidFill>
              <a:srgbClr val="00206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7FD21F-EADE-4B5B-DC0A-B2D2DC7C6FF2}"/>
              </a:ext>
            </a:extLst>
          </p:cNvPr>
          <p:cNvSpPr txBox="1"/>
          <p:nvPr/>
        </p:nvSpPr>
        <p:spPr>
          <a:xfrm>
            <a:off x="4681965" y="6389057"/>
            <a:ext cx="2656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i="1" dirty="0"/>
              <a:t>a</a:t>
            </a:r>
            <a:r>
              <a:rPr lang="en-NZ" sz="1800" i="1" dirty="0"/>
              <a:t>) Parallel development?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7B4CBF-33AF-078D-895A-AED1F0B7DEF2}"/>
              </a:ext>
            </a:extLst>
          </p:cNvPr>
          <p:cNvCxnSpPr/>
          <p:nvPr/>
        </p:nvCxnSpPr>
        <p:spPr>
          <a:xfrm>
            <a:off x="3352800" y="1010465"/>
            <a:ext cx="0" cy="4933244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96EA6B5-F415-583D-28DD-358B191C7F30}"/>
              </a:ext>
            </a:extLst>
          </p:cNvPr>
          <p:cNvSpPr txBox="1"/>
          <p:nvPr/>
        </p:nvSpPr>
        <p:spPr>
          <a:xfrm>
            <a:off x="2023674" y="508817"/>
            <a:ext cx="26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d) Developmental gates?</a:t>
            </a:r>
          </a:p>
        </p:txBody>
      </p:sp>
    </p:spTree>
    <p:extLst>
      <p:ext uri="{BB962C8B-B14F-4D97-AF65-F5344CB8AC3E}">
        <p14:creationId xmlns:p14="http://schemas.microsoft.com/office/powerpoint/2010/main" val="291303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80D1F9F-CFDA-FB7F-640F-9815C6992CB5}"/>
              </a:ext>
            </a:extLst>
          </p:cNvPr>
          <p:cNvSpPr/>
          <p:nvPr/>
        </p:nvSpPr>
        <p:spPr>
          <a:xfrm>
            <a:off x="6096002" y="3428999"/>
            <a:ext cx="2640804" cy="24860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6961D-4BE7-1B5B-C117-450741558F75}"/>
              </a:ext>
            </a:extLst>
          </p:cNvPr>
          <p:cNvSpPr/>
          <p:nvPr/>
        </p:nvSpPr>
        <p:spPr>
          <a:xfrm>
            <a:off x="3455192" y="3429000"/>
            <a:ext cx="2640804" cy="24860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C4848-67EC-F10E-9089-68761C70B02C}"/>
              </a:ext>
            </a:extLst>
          </p:cNvPr>
          <p:cNvSpPr/>
          <p:nvPr/>
        </p:nvSpPr>
        <p:spPr>
          <a:xfrm>
            <a:off x="3455193" y="942972"/>
            <a:ext cx="2640807" cy="2486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B6EB03-C2C7-CEDF-BDFC-05DDB89C5B47}"/>
              </a:ext>
            </a:extLst>
          </p:cNvPr>
          <p:cNvSpPr/>
          <p:nvPr/>
        </p:nvSpPr>
        <p:spPr>
          <a:xfrm>
            <a:off x="6096000" y="942975"/>
            <a:ext cx="2640807" cy="2486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ACD6E3-FA7C-F213-5A59-94785F205FC0}"/>
              </a:ext>
            </a:extLst>
          </p:cNvPr>
          <p:cNvCxnSpPr>
            <a:cxnSpLocks/>
          </p:cNvCxnSpPr>
          <p:nvPr/>
        </p:nvCxnSpPr>
        <p:spPr>
          <a:xfrm>
            <a:off x="6096000" y="942975"/>
            <a:ext cx="0" cy="4972050"/>
          </a:xfrm>
          <a:prstGeom prst="straightConnector1">
            <a:avLst/>
          </a:prstGeom>
          <a:ln w="6350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2192BA-028C-EF6F-B36B-F007EF60F5D3}"/>
              </a:ext>
            </a:extLst>
          </p:cNvPr>
          <p:cNvCxnSpPr>
            <a:cxnSpLocks/>
          </p:cNvCxnSpPr>
          <p:nvPr/>
        </p:nvCxnSpPr>
        <p:spPr>
          <a:xfrm>
            <a:off x="3455193" y="3429000"/>
            <a:ext cx="5281613" cy="0"/>
          </a:xfrm>
          <a:prstGeom prst="straightConnector1">
            <a:avLst/>
          </a:prstGeom>
          <a:ln w="6350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963B1E-8370-F9FA-3054-0C3BC29B079C}"/>
              </a:ext>
            </a:extLst>
          </p:cNvPr>
          <p:cNvSpPr txBox="1"/>
          <p:nvPr/>
        </p:nvSpPr>
        <p:spPr>
          <a:xfrm>
            <a:off x="3998779" y="5409141"/>
            <a:ext cx="15536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Mutualism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A742F3-852D-F9FF-90DF-5D2557EE045E}"/>
              </a:ext>
            </a:extLst>
          </p:cNvPr>
          <p:cNvSpPr txBox="1"/>
          <p:nvPr/>
        </p:nvSpPr>
        <p:spPr>
          <a:xfrm>
            <a:off x="6558154" y="5409141"/>
            <a:ext cx="1716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Antagonism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FE332-2A34-4475-4DEE-00ADB708252E}"/>
              </a:ext>
            </a:extLst>
          </p:cNvPr>
          <p:cNvSpPr txBox="1"/>
          <p:nvPr/>
        </p:nvSpPr>
        <p:spPr>
          <a:xfrm>
            <a:off x="4004806" y="2909893"/>
            <a:ext cx="1547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Parasitism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07D65-6457-2005-342C-44D4711E6D16}"/>
              </a:ext>
            </a:extLst>
          </p:cNvPr>
          <p:cNvSpPr txBox="1"/>
          <p:nvPr/>
        </p:nvSpPr>
        <p:spPr>
          <a:xfrm>
            <a:off x="6427101" y="2909894"/>
            <a:ext cx="19705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200" b="1" dirty="0"/>
              <a:t>Predator/Prey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BC9F8-C3D9-6262-515C-775904F56A97}"/>
              </a:ext>
            </a:extLst>
          </p:cNvPr>
          <p:cNvSpPr txBox="1"/>
          <p:nvPr/>
        </p:nvSpPr>
        <p:spPr>
          <a:xfrm>
            <a:off x="8809751" y="3213556"/>
            <a:ext cx="1247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Cells die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9EEFF-46C8-610F-6ABA-4CDEA028C17F}"/>
              </a:ext>
            </a:extLst>
          </p:cNvPr>
          <p:cNvSpPr txBox="1"/>
          <p:nvPr/>
        </p:nvSpPr>
        <p:spPr>
          <a:xfrm>
            <a:off x="2094266" y="3213556"/>
            <a:ext cx="12879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Cells live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99F8B-EDA5-8A5B-070C-001DFB96C3D1}"/>
              </a:ext>
            </a:extLst>
          </p:cNvPr>
          <p:cNvSpPr txBox="1"/>
          <p:nvPr/>
        </p:nvSpPr>
        <p:spPr>
          <a:xfrm>
            <a:off x="5499230" y="6003242"/>
            <a:ext cx="11935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Bilateral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C83CAD-C0C7-8780-DBC6-4375C29C4C96}"/>
              </a:ext>
            </a:extLst>
          </p:cNvPr>
          <p:cNvSpPr txBox="1"/>
          <p:nvPr/>
        </p:nvSpPr>
        <p:spPr>
          <a:xfrm>
            <a:off x="5410263" y="423871"/>
            <a:ext cx="1371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2200" dirty="0"/>
              <a:t>Unilateral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A382F4-323D-82F6-AE08-C05B2B9396DF}"/>
              </a:ext>
            </a:extLst>
          </p:cNvPr>
          <p:cNvSpPr/>
          <p:nvPr/>
        </p:nvSpPr>
        <p:spPr>
          <a:xfrm>
            <a:off x="5138329" y="2299665"/>
            <a:ext cx="360901" cy="360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6D63E7-5126-94CE-0860-D6FC75EC2CDD}"/>
              </a:ext>
            </a:extLst>
          </p:cNvPr>
          <p:cNvSpPr/>
          <p:nvPr/>
        </p:nvSpPr>
        <p:spPr>
          <a:xfrm rot="2410699">
            <a:off x="4197334" y="1358764"/>
            <a:ext cx="304800" cy="6316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5FB10D-6FC6-9F2C-2622-9FFA2A5385BC}"/>
              </a:ext>
            </a:extLst>
          </p:cNvPr>
          <p:cNvCxnSpPr>
            <a:cxnSpLocks/>
          </p:cNvCxnSpPr>
          <p:nvPr/>
        </p:nvCxnSpPr>
        <p:spPr>
          <a:xfrm>
            <a:off x="4666390" y="2034164"/>
            <a:ext cx="249140" cy="214185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783855-ED44-C00F-ED31-686747714DE8}"/>
              </a:ext>
            </a:extLst>
          </p:cNvPr>
          <p:cNvCxnSpPr>
            <a:cxnSpLocks/>
          </p:cNvCxnSpPr>
          <p:nvPr/>
        </p:nvCxnSpPr>
        <p:spPr>
          <a:xfrm flipV="1">
            <a:off x="4894784" y="2190859"/>
            <a:ext cx="110655" cy="128309"/>
          </a:xfrm>
          <a:prstGeom prst="line">
            <a:avLst/>
          </a:prstGeom>
          <a:ln w="508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89144-54A9-62A1-5DAC-4DDD7F857F31}"/>
              </a:ext>
            </a:extLst>
          </p:cNvPr>
          <p:cNvCxnSpPr>
            <a:cxnSpLocks/>
          </p:cNvCxnSpPr>
          <p:nvPr/>
        </p:nvCxnSpPr>
        <p:spPr>
          <a:xfrm>
            <a:off x="4504647" y="4572359"/>
            <a:ext cx="385564" cy="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BF447F-54D6-EFE8-3909-B84A1EB28155}"/>
              </a:ext>
            </a:extLst>
          </p:cNvPr>
          <p:cNvCxnSpPr>
            <a:cxnSpLocks/>
          </p:cNvCxnSpPr>
          <p:nvPr/>
        </p:nvCxnSpPr>
        <p:spPr>
          <a:xfrm flipH="1">
            <a:off x="4520685" y="4828391"/>
            <a:ext cx="367652" cy="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B1A71BE-DB75-5056-140D-2813D8C0F309}"/>
              </a:ext>
            </a:extLst>
          </p:cNvPr>
          <p:cNvSpPr/>
          <p:nvPr/>
        </p:nvSpPr>
        <p:spPr>
          <a:xfrm>
            <a:off x="3979332" y="4516186"/>
            <a:ext cx="360901" cy="360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6EB2DC-3437-8B9B-5C6F-7501FC0C9A38}"/>
              </a:ext>
            </a:extLst>
          </p:cNvPr>
          <p:cNvSpPr/>
          <p:nvPr/>
        </p:nvSpPr>
        <p:spPr>
          <a:xfrm>
            <a:off x="5034966" y="4379927"/>
            <a:ext cx="304800" cy="6316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E2D853-9363-834B-8B1E-2D18A88EEA67}"/>
              </a:ext>
            </a:extLst>
          </p:cNvPr>
          <p:cNvSpPr/>
          <p:nvPr/>
        </p:nvSpPr>
        <p:spPr>
          <a:xfrm>
            <a:off x="6915570" y="2334496"/>
            <a:ext cx="360901" cy="360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9CFE9DD-E657-0F01-C23F-5CB3CB4862F9}"/>
              </a:ext>
            </a:extLst>
          </p:cNvPr>
          <p:cNvSpPr/>
          <p:nvPr/>
        </p:nvSpPr>
        <p:spPr>
          <a:xfrm rot="18900000">
            <a:off x="7732757" y="1312073"/>
            <a:ext cx="304800" cy="6316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BA7F050-E361-B50E-7BAD-7C7D0042660B}"/>
              </a:ext>
            </a:extLst>
          </p:cNvPr>
          <p:cNvCxnSpPr>
            <a:cxnSpLocks/>
          </p:cNvCxnSpPr>
          <p:nvPr/>
        </p:nvCxnSpPr>
        <p:spPr>
          <a:xfrm flipV="1">
            <a:off x="7307197" y="1848771"/>
            <a:ext cx="271459" cy="330857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E5CA21-1299-D5DC-F57B-6F4C160F4020}"/>
              </a:ext>
            </a:extLst>
          </p:cNvPr>
          <p:cNvCxnSpPr>
            <a:cxnSpLocks/>
          </p:cNvCxnSpPr>
          <p:nvPr/>
        </p:nvCxnSpPr>
        <p:spPr>
          <a:xfrm>
            <a:off x="7234233" y="2132576"/>
            <a:ext cx="135899" cy="110211"/>
          </a:xfrm>
          <a:prstGeom prst="line">
            <a:avLst/>
          </a:prstGeom>
          <a:ln w="508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skull and crossbones on a black background&#10;&#10;AI-generated content may be incorrect.">
            <a:extLst>
              <a:ext uri="{FF2B5EF4-FFF2-40B4-BE49-F238E27FC236}">
                <a16:creationId xmlns:a16="http://schemas.microsoft.com/office/drawing/2014/main" id="{AEB405D6-305F-0805-983B-742215118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569" y="2342977"/>
            <a:ext cx="360902" cy="346852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B51F419A-C367-EFCD-8AA8-72F1E9DF88DF}"/>
              </a:ext>
            </a:extLst>
          </p:cNvPr>
          <p:cNvSpPr/>
          <p:nvPr/>
        </p:nvSpPr>
        <p:spPr>
          <a:xfrm>
            <a:off x="7794853" y="4535936"/>
            <a:ext cx="360901" cy="360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9B04BB0-BF34-F056-AB09-C29123AC5C80}"/>
              </a:ext>
            </a:extLst>
          </p:cNvPr>
          <p:cNvCxnSpPr>
            <a:cxnSpLocks/>
          </p:cNvCxnSpPr>
          <p:nvPr/>
        </p:nvCxnSpPr>
        <p:spPr>
          <a:xfrm>
            <a:off x="4777520" y="1795613"/>
            <a:ext cx="345182" cy="278429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6837ACBC-64C7-49D8-12CA-B8351F07EA87}"/>
              </a:ext>
            </a:extLst>
          </p:cNvPr>
          <p:cNvSpPr/>
          <p:nvPr/>
        </p:nvSpPr>
        <p:spPr>
          <a:xfrm>
            <a:off x="6676240" y="4379927"/>
            <a:ext cx="304800" cy="6316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6837DC1-7A60-FFBC-3E0D-B2038EFE2218}"/>
              </a:ext>
            </a:extLst>
          </p:cNvPr>
          <p:cNvCxnSpPr>
            <a:cxnSpLocks/>
          </p:cNvCxnSpPr>
          <p:nvPr/>
        </p:nvCxnSpPr>
        <p:spPr>
          <a:xfrm>
            <a:off x="7282167" y="4581289"/>
            <a:ext cx="260405" cy="0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AA078CF-AC07-E496-5AF2-E4CE1E3F33BE}"/>
              </a:ext>
            </a:extLst>
          </p:cNvPr>
          <p:cNvCxnSpPr>
            <a:cxnSpLocks/>
          </p:cNvCxnSpPr>
          <p:nvPr/>
        </p:nvCxnSpPr>
        <p:spPr>
          <a:xfrm>
            <a:off x="7296824" y="4828391"/>
            <a:ext cx="260405" cy="0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878255-1B4E-C372-A6C6-2E18A7855136}"/>
              </a:ext>
            </a:extLst>
          </p:cNvPr>
          <p:cNvCxnSpPr>
            <a:cxnSpLocks/>
          </p:cNvCxnSpPr>
          <p:nvPr/>
        </p:nvCxnSpPr>
        <p:spPr>
          <a:xfrm flipV="1">
            <a:off x="7276471" y="4496159"/>
            <a:ext cx="0" cy="152400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0C5E79-D825-7071-34F3-DD60E7BE53EB}"/>
              </a:ext>
            </a:extLst>
          </p:cNvPr>
          <p:cNvCxnSpPr>
            <a:cxnSpLocks/>
          </p:cNvCxnSpPr>
          <p:nvPr/>
        </p:nvCxnSpPr>
        <p:spPr>
          <a:xfrm flipV="1">
            <a:off x="7574702" y="4752191"/>
            <a:ext cx="0" cy="152400"/>
          </a:xfrm>
          <a:prstGeom prst="line">
            <a:avLst/>
          </a:prstGeom>
          <a:ln w="5080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A skull and crossbones on a black background&#10;&#10;AI-generated content may be incorrect.">
            <a:extLst>
              <a:ext uri="{FF2B5EF4-FFF2-40B4-BE49-F238E27FC236}">
                <a16:creationId xmlns:a16="http://schemas.microsoft.com/office/drawing/2014/main" id="{3835448D-5A3E-69A6-4E03-60BFC349C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189" y="4508572"/>
            <a:ext cx="360902" cy="346852"/>
          </a:xfrm>
          <a:prstGeom prst="rect">
            <a:avLst/>
          </a:prstGeom>
        </p:spPr>
      </p:pic>
      <p:pic>
        <p:nvPicPr>
          <p:cNvPr id="57" name="Picture 56" descr="A skull and crossbones on a black background&#10;&#10;AI-generated content may be incorrect.">
            <a:extLst>
              <a:ext uri="{FF2B5EF4-FFF2-40B4-BE49-F238E27FC236}">
                <a16:creationId xmlns:a16="http://schemas.microsoft.com/office/drawing/2014/main" id="{46C60412-92E0-19DD-7020-699976880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852" y="4535935"/>
            <a:ext cx="360902" cy="346852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F4400D9-2262-55AE-A6A0-58E45724A46F}"/>
              </a:ext>
            </a:extLst>
          </p:cNvPr>
          <p:cNvCxnSpPr>
            <a:cxnSpLocks/>
          </p:cNvCxnSpPr>
          <p:nvPr/>
        </p:nvCxnSpPr>
        <p:spPr>
          <a:xfrm flipH="1">
            <a:off x="7454465" y="1992025"/>
            <a:ext cx="321327" cy="391312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99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BA1DE30D-CE9A-6C73-19D9-DA55B177DF8C}"/>
              </a:ext>
            </a:extLst>
          </p:cNvPr>
          <p:cNvSpPr/>
          <p:nvPr/>
        </p:nvSpPr>
        <p:spPr>
          <a:xfrm rot="16200000">
            <a:off x="3610146" y="2102606"/>
            <a:ext cx="2682625" cy="735189"/>
          </a:xfrm>
          <a:prstGeom prst="rightArrow">
            <a:avLst/>
          </a:prstGeom>
          <a:gradFill flip="none" rotWithShape="1">
            <a:gsLst>
              <a:gs pos="0">
                <a:srgbClr val="00206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C44CB-9B18-7C6C-F594-14E2357BDA83}"/>
              </a:ext>
            </a:extLst>
          </p:cNvPr>
          <p:cNvSpPr txBox="1"/>
          <p:nvPr/>
        </p:nvSpPr>
        <p:spPr>
          <a:xfrm>
            <a:off x="6079914" y="3579292"/>
            <a:ext cx="2482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b="1" dirty="0"/>
              <a:t>Evolutionary theory:</a:t>
            </a:r>
          </a:p>
          <a:p>
            <a:pPr algn="ctr"/>
            <a:r>
              <a:rPr lang="en-NZ" b="1" dirty="0"/>
              <a:t>Extent of co-evolution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15363-E156-D932-2109-C258B1F8F449}"/>
              </a:ext>
            </a:extLst>
          </p:cNvPr>
          <p:cNvSpPr txBox="1"/>
          <p:nvPr/>
        </p:nvSpPr>
        <p:spPr>
          <a:xfrm>
            <a:off x="6242137" y="2192506"/>
            <a:ext cx="215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b="1" dirty="0"/>
              <a:t>Ecological theory:</a:t>
            </a:r>
          </a:p>
          <a:p>
            <a:pPr algn="ctr"/>
            <a:r>
              <a:rPr lang="en-NZ" b="1" dirty="0"/>
              <a:t>Recognition of 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D3258-D691-A2F0-7922-4C7F833CC344}"/>
              </a:ext>
            </a:extLst>
          </p:cNvPr>
          <p:cNvSpPr txBox="1"/>
          <p:nvPr/>
        </p:nvSpPr>
        <p:spPr>
          <a:xfrm>
            <a:off x="1954964" y="4639733"/>
            <a:ext cx="82820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i="1" dirty="0"/>
              <a:t>It is not a good idea to use both ecological and evolutionary theory, simultaneously,</a:t>
            </a:r>
          </a:p>
          <a:p>
            <a:pPr algn="ctr"/>
            <a:r>
              <a:rPr lang="en-NZ" i="1" dirty="0"/>
              <a:t>to predict clinical phenotypes. This could lead to logical confounding.</a:t>
            </a:r>
          </a:p>
          <a:p>
            <a:pPr algn="ctr"/>
            <a:endParaRPr lang="en-NZ" i="1" dirty="0"/>
          </a:p>
          <a:p>
            <a:pPr algn="ctr"/>
            <a:r>
              <a:rPr lang="en-NZ" i="1" dirty="0"/>
              <a:t>I want to focus on ecological theory, as it seems underexplored.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44F29-BEEC-1A69-0E0E-F6B2CDA8EA02}"/>
              </a:ext>
            </a:extLst>
          </p:cNvPr>
          <p:cNvSpPr txBox="1"/>
          <p:nvPr/>
        </p:nvSpPr>
        <p:spPr>
          <a:xfrm>
            <a:off x="5952156" y="805721"/>
            <a:ext cx="2737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b="1" dirty="0"/>
              <a:t>Molecular microbiology:</a:t>
            </a:r>
          </a:p>
          <a:p>
            <a:pPr algn="ctr"/>
            <a:r>
              <a:rPr lang="en-NZ" b="1" dirty="0"/>
              <a:t>Biofilm phenotypes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F34A7-9146-08AB-9F2C-587F5A8731DF}"/>
              </a:ext>
            </a:extLst>
          </p:cNvPr>
          <p:cNvSpPr txBox="1"/>
          <p:nvPr/>
        </p:nvSpPr>
        <p:spPr>
          <a:xfrm rot="16200000">
            <a:off x="3480248" y="2331006"/>
            <a:ext cx="1310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i="1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70102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60">
            <a:extLst>
              <a:ext uri="{FF2B5EF4-FFF2-40B4-BE49-F238E27FC236}">
                <a16:creationId xmlns:a16="http://schemas.microsoft.com/office/drawing/2014/main" id="{F455C083-E9C5-5A39-FEA6-68447FC3E7C8}"/>
              </a:ext>
            </a:extLst>
          </p:cNvPr>
          <p:cNvSpPr/>
          <p:nvPr/>
        </p:nvSpPr>
        <p:spPr>
          <a:xfrm>
            <a:off x="9920642" y="1098034"/>
            <a:ext cx="276225" cy="2762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C5B69B0-79DC-F893-4AC1-CC82CFF1B905}"/>
              </a:ext>
            </a:extLst>
          </p:cNvPr>
          <p:cNvSpPr/>
          <p:nvPr/>
        </p:nvSpPr>
        <p:spPr>
          <a:xfrm>
            <a:off x="9920641" y="1675021"/>
            <a:ext cx="276225" cy="2762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0FAC81-A2A9-2509-86BB-CD554D3744F5}"/>
              </a:ext>
            </a:extLst>
          </p:cNvPr>
          <p:cNvSpPr txBox="1"/>
          <p:nvPr/>
        </p:nvSpPr>
        <p:spPr>
          <a:xfrm>
            <a:off x="10382929" y="1643856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600" dirty="0"/>
              <a:t>Product 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3C20D5-EF5F-0E68-99D6-10A11C88C752}"/>
              </a:ext>
            </a:extLst>
          </p:cNvPr>
          <p:cNvSpPr txBox="1"/>
          <p:nvPr/>
        </p:nvSpPr>
        <p:spPr>
          <a:xfrm>
            <a:off x="10354936" y="1066869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Product 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4A7EB7-0BC2-AD31-B70D-5FFE9047D5DA}"/>
              </a:ext>
            </a:extLst>
          </p:cNvPr>
          <p:cNvCxnSpPr>
            <a:cxnSpLocks/>
          </p:cNvCxnSpPr>
          <p:nvPr/>
        </p:nvCxnSpPr>
        <p:spPr>
          <a:xfrm rot="600000">
            <a:off x="1994712" y="1382292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E7E5E9-5212-FC58-4BAD-3115B70FD611}"/>
              </a:ext>
            </a:extLst>
          </p:cNvPr>
          <p:cNvCxnSpPr>
            <a:cxnSpLocks/>
          </p:cNvCxnSpPr>
          <p:nvPr/>
        </p:nvCxnSpPr>
        <p:spPr>
          <a:xfrm rot="21000000">
            <a:off x="1989738" y="1080771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6E2D6-6AE5-FA3E-3433-26B0C72C5A44}"/>
              </a:ext>
            </a:extLst>
          </p:cNvPr>
          <p:cNvSpPr/>
          <p:nvPr/>
        </p:nvSpPr>
        <p:spPr>
          <a:xfrm>
            <a:off x="3598460" y="801915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E4CB40-967F-9A8F-30D4-B558C4158CF1}"/>
              </a:ext>
            </a:extLst>
          </p:cNvPr>
          <p:cNvSpPr/>
          <p:nvPr/>
        </p:nvSpPr>
        <p:spPr>
          <a:xfrm>
            <a:off x="3598460" y="1404708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0" name="Pentagon 39">
            <a:extLst>
              <a:ext uri="{FF2B5EF4-FFF2-40B4-BE49-F238E27FC236}">
                <a16:creationId xmlns:a16="http://schemas.microsoft.com/office/drawing/2014/main" id="{FCAB074C-E0C8-ED0B-B5A3-EFEE2FEEEC01}"/>
              </a:ext>
            </a:extLst>
          </p:cNvPr>
          <p:cNvSpPr/>
          <p:nvPr/>
        </p:nvSpPr>
        <p:spPr>
          <a:xfrm>
            <a:off x="1855592" y="1092178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A1EA983-0330-9C42-AA3C-98D333B01258}"/>
              </a:ext>
            </a:extLst>
          </p:cNvPr>
          <p:cNvCxnSpPr>
            <a:cxnSpLocks/>
          </p:cNvCxnSpPr>
          <p:nvPr/>
        </p:nvCxnSpPr>
        <p:spPr>
          <a:xfrm rot="600000">
            <a:off x="5153630" y="1382292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38D9792-5DFD-68CA-8B77-2052E5075D6A}"/>
              </a:ext>
            </a:extLst>
          </p:cNvPr>
          <p:cNvCxnSpPr>
            <a:cxnSpLocks/>
          </p:cNvCxnSpPr>
          <p:nvPr/>
        </p:nvCxnSpPr>
        <p:spPr>
          <a:xfrm rot="21000000">
            <a:off x="5148656" y="1080771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3C9B748-482B-CD5D-DE51-F93C6E56E9F1}"/>
              </a:ext>
            </a:extLst>
          </p:cNvPr>
          <p:cNvSpPr/>
          <p:nvPr/>
        </p:nvSpPr>
        <p:spPr>
          <a:xfrm>
            <a:off x="6757378" y="801915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4EC3FE7-B708-E378-D22C-6EA0E0814EA4}"/>
              </a:ext>
            </a:extLst>
          </p:cNvPr>
          <p:cNvSpPr/>
          <p:nvPr/>
        </p:nvSpPr>
        <p:spPr>
          <a:xfrm>
            <a:off x="6757378" y="1404708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71" name="Pentagon 70">
            <a:extLst>
              <a:ext uri="{FF2B5EF4-FFF2-40B4-BE49-F238E27FC236}">
                <a16:creationId xmlns:a16="http://schemas.microsoft.com/office/drawing/2014/main" id="{FD2018DA-C829-6E4F-A83F-C0F0F0A84049}"/>
              </a:ext>
            </a:extLst>
          </p:cNvPr>
          <p:cNvSpPr/>
          <p:nvPr/>
        </p:nvSpPr>
        <p:spPr>
          <a:xfrm>
            <a:off x="5014510" y="1092178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E9AF47F-67FF-078B-AA68-B2AB4DD46B3E}"/>
              </a:ext>
            </a:extLst>
          </p:cNvPr>
          <p:cNvCxnSpPr>
            <a:cxnSpLocks/>
          </p:cNvCxnSpPr>
          <p:nvPr/>
        </p:nvCxnSpPr>
        <p:spPr>
          <a:xfrm rot="600000">
            <a:off x="1994712" y="2852380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4C0D1FE-062C-5021-B986-1459D396155E}"/>
              </a:ext>
            </a:extLst>
          </p:cNvPr>
          <p:cNvCxnSpPr>
            <a:cxnSpLocks/>
          </p:cNvCxnSpPr>
          <p:nvPr/>
        </p:nvCxnSpPr>
        <p:spPr>
          <a:xfrm rot="21000000">
            <a:off x="1989738" y="2550859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7B82523-9534-5957-9B50-4C06454426F4}"/>
              </a:ext>
            </a:extLst>
          </p:cNvPr>
          <p:cNvSpPr/>
          <p:nvPr/>
        </p:nvSpPr>
        <p:spPr>
          <a:xfrm>
            <a:off x="3598460" y="2272003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787C480-1CAE-CA90-F6E9-EE2F7ACCDD9C}"/>
              </a:ext>
            </a:extLst>
          </p:cNvPr>
          <p:cNvSpPr/>
          <p:nvPr/>
        </p:nvSpPr>
        <p:spPr>
          <a:xfrm>
            <a:off x="3598460" y="2874796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C8634E97-BA1F-F7D5-0CB3-B6FCE13B0A2A}"/>
              </a:ext>
            </a:extLst>
          </p:cNvPr>
          <p:cNvSpPr/>
          <p:nvPr/>
        </p:nvSpPr>
        <p:spPr>
          <a:xfrm>
            <a:off x="1855592" y="2562266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0C897A-DF9D-7D4E-F433-6A5C19712442}"/>
              </a:ext>
            </a:extLst>
          </p:cNvPr>
          <p:cNvCxnSpPr>
            <a:cxnSpLocks/>
          </p:cNvCxnSpPr>
          <p:nvPr/>
        </p:nvCxnSpPr>
        <p:spPr>
          <a:xfrm rot="600000">
            <a:off x="5153630" y="2852380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F293B65-E2F5-03B3-9916-FE632761D305}"/>
              </a:ext>
            </a:extLst>
          </p:cNvPr>
          <p:cNvCxnSpPr>
            <a:cxnSpLocks/>
          </p:cNvCxnSpPr>
          <p:nvPr/>
        </p:nvCxnSpPr>
        <p:spPr>
          <a:xfrm rot="21000000">
            <a:off x="5148656" y="2550859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90803F8-E472-18F1-FA54-136E7532B3B2}"/>
              </a:ext>
            </a:extLst>
          </p:cNvPr>
          <p:cNvSpPr/>
          <p:nvPr/>
        </p:nvSpPr>
        <p:spPr>
          <a:xfrm>
            <a:off x="6757378" y="2272003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1996382-0AEC-9541-B13B-69F1FA41E84B}"/>
              </a:ext>
            </a:extLst>
          </p:cNvPr>
          <p:cNvSpPr/>
          <p:nvPr/>
        </p:nvSpPr>
        <p:spPr>
          <a:xfrm>
            <a:off x="6757378" y="2874796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83" name="Pentagon 82">
            <a:extLst>
              <a:ext uri="{FF2B5EF4-FFF2-40B4-BE49-F238E27FC236}">
                <a16:creationId xmlns:a16="http://schemas.microsoft.com/office/drawing/2014/main" id="{692A3F52-4358-CE26-A925-30944959990A}"/>
              </a:ext>
            </a:extLst>
          </p:cNvPr>
          <p:cNvSpPr/>
          <p:nvPr/>
        </p:nvSpPr>
        <p:spPr>
          <a:xfrm>
            <a:off x="5014510" y="2562266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63D780E-60CA-63CA-E354-23F81F896EDC}"/>
              </a:ext>
            </a:extLst>
          </p:cNvPr>
          <p:cNvCxnSpPr>
            <a:cxnSpLocks/>
          </p:cNvCxnSpPr>
          <p:nvPr/>
        </p:nvCxnSpPr>
        <p:spPr>
          <a:xfrm rot="600000">
            <a:off x="1980234" y="4439585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AB7C2C3-3488-7216-33B2-F231235C0F42}"/>
              </a:ext>
            </a:extLst>
          </p:cNvPr>
          <p:cNvCxnSpPr>
            <a:cxnSpLocks/>
          </p:cNvCxnSpPr>
          <p:nvPr/>
        </p:nvCxnSpPr>
        <p:spPr>
          <a:xfrm rot="21000000">
            <a:off x="1975260" y="4138064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39CECEE7-158E-F9A4-A163-A4F40F248266}"/>
              </a:ext>
            </a:extLst>
          </p:cNvPr>
          <p:cNvSpPr/>
          <p:nvPr/>
        </p:nvSpPr>
        <p:spPr>
          <a:xfrm>
            <a:off x="3583982" y="3859208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CAC5EE2-3E70-F52C-2883-51E33D594F06}"/>
              </a:ext>
            </a:extLst>
          </p:cNvPr>
          <p:cNvSpPr/>
          <p:nvPr/>
        </p:nvSpPr>
        <p:spPr>
          <a:xfrm>
            <a:off x="3583982" y="4462001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89" name="Pentagon 88">
            <a:extLst>
              <a:ext uri="{FF2B5EF4-FFF2-40B4-BE49-F238E27FC236}">
                <a16:creationId xmlns:a16="http://schemas.microsoft.com/office/drawing/2014/main" id="{D41D65AC-E250-6614-6AF2-CA23B9CDFB57}"/>
              </a:ext>
            </a:extLst>
          </p:cNvPr>
          <p:cNvSpPr/>
          <p:nvPr/>
        </p:nvSpPr>
        <p:spPr>
          <a:xfrm>
            <a:off x="1841114" y="4149471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7F5D927-D15B-C324-C381-AA881CCD140A}"/>
              </a:ext>
            </a:extLst>
          </p:cNvPr>
          <p:cNvCxnSpPr>
            <a:cxnSpLocks/>
          </p:cNvCxnSpPr>
          <p:nvPr/>
        </p:nvCxnSpPr>
        <p:spPr>
          <a:xfrm rot="600000">
            <a:off x="5139152" y="4439585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0B7499F-557E-DBD8-3E79-1427F04BB0B6}"/>
              </a:ext>
            </a:extLst>
          </p:cNvPr>
          <p:cNvCxnSpPr>
            <a:cxnSpLocks/>
          </p:cNvCxnSpPr>
          <p:nvPr/>
        </p:nvCxnSpPr>
        <p:spPr>
          <a:xfrm rot="21000000">
            <a:off x="5134178" y="4138064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1D9FC84B-0CFB-155B-073A-DA90F1E0921C}"/>
              </a:ext>
            </a:extLst>
          </p:cNvPr>
          <p:cNvSpPr/>
          <p:nvPr/>
        </p:nvSpPr>
        <p:spPr>
          <a:xfrm>
            <a:off x="6742900" y="3859208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FB39106-4034-AA84-8655-572FC50FD053}"/>
              </a:ext>
            </a:extLst>
          </p:cNvPr>
          <p:cNvSpPr/>
          <p:nvPr/>
        </p:nvSpPr>
        <p:spPr>
          <a:xfrm>
            <a:off x="6742900" y="4462001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94" name="Pentagon 93">
            <a:extLst>
              <a:ext uri="{FF2B5EF4-FFF2-40B4-BE49-F238E27FC236}">
                <a16:creationId xmlns:a16="http://schemas.microsoft.com/office/drawing/2014/main" id="{2519E275-5384-623F-7A85-D7394DC40389}"/>
              </a:ext>
            </a:extLst>
          </p:cNvPr>
          <p:cNvSpPr/>
          <p:nvPr/>
        </p:nvSpPr>
        <p:spPr>
          <a:xfrm>
            <a:off x="5000032" y="4149471"/>
            <a:ext cx="284913" cy="271346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6B69348-3949-46A1-B9E8-399F8F32025F}"/>
              </a:ext>
            </a:extLst>
          </p:cNvPr>
          <p:cNvCxnSpPr>
            <a:cxnSpLocks/>
          </p:cNvCxnSpPr>
          <p:nvPr/>
        </p:nvCxnSpPr>
        <p:spPr>
          <a:xfrm rot="600000">
            <a:off x="1989759" y="6022893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05486DD-56C5-1A12-6434-26396E9596BC}"/>
              </a:ext>
            </a:extLst>
          </p:cNvPr>
          <p:cNvCxnSpPr>
            <a:cxnSpLocks/>
          </p:cNvCxnSpPr>
          <p:nvPr/>
        </p:nvCxnSpPr>
        <p:spPr>
          <a:xfrm rot="21000000">
            <a:off x="1984785" y="5721372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B947B76-6F8E-E18B-9EEF-92D6F1EE7F88}"/>
              </a:ext>
            </a:extLst>
          </p:cNvPr>
          <p:cNvSpPr/>
          <p:nvPr/>
        </p:nvSpPr>
        <p:spPr>
          <a:xfrm>
            <a:off x="3593507" y="5442516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E1546C3-4342-85C3-7A96-9394EE88EA80}"/>
              </a:ext>
            </a:extLst>
          </p:cNvPr>
          <p:cNvSpPr/>
          <p:nvPr/>
        </p:nvSpPr>
        <p:spPr>
          <a:xfrm>
            <a:off x="3593507" y="6045309"/>
            <a:ext cx="254000" cy="25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00" name="Pentagon 99">
            <a:extLst>
              <a:ext uri="{FF2B5EF4-FFF2-40B4-BE49-F238E27FC236}">
                <a16:creationId xmlns:a16="http://schemas.microsoft.com/office/drawing/2014/main" id="{A68B4233-B47D-F872-0A7E-B803EDC53D3E}"/>
              </a:ext>
            </a:extLst>
          </p:cNvPr>
          <p:cNvSpPr/>
          <p:nvPr/>
        </p:nvSpPr>
        <p:spPr>
          <a:xfrm>
            <a:off x="1850639" y="5732779"/>
            <a:ext cx="284913" cy="271346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135D9CF-F610-4236-68D9-E8B0E7ECF6C1}"/>
              </a:ext>
            </a:extLst>
          </p:cNvPr>
          <p:cNvCxnSpPr>
            <a:cxnSpLocks/>
          </p:cNvCxnSpPr>
          <p:nvPr/>
        </p:nvCxnSpPr>
        <p:spPr>
          <a:xfrm rot="600000">
            <a:off x="5148677" y="6022893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61F311-7A18-29F4-4973-A4F529407808}"/>
              </a:ext>
            </a:extLst>
          </p:cNvPr>
          <p:cNvCxnSpPr>
            <a:cxnSpLocks/>
          </p:cNvCxnSpPr>
          <p:nvPr/>
        </p:nvCxnSpPr>
        <p:spPr>
          <a:xfrm rot="21000000">
            <a:off x="5143703" y="5721372"/>
            <a:ext cx="1749007" cy="0"/>
          </a:xfrm>
          <a:prstGeom prst="line">
            <a:avLst/>
          </a:prstGeom>
          <a:ln w="50800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CA982EF-7611-5AFE-E217-C4E0E5A5317B}"/>
              </a:ext>
            </a:extLst>
          </p:cNvPr>
          <p:cNvSpPr/>
          <p:nvPr/>
        </p:nvSpPr>
        <p:spPr>
          <a:xfrm>
            <a:off x="6752425" y="5442516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961F5CE-B214-E116-2161-18EF9DCFF842}"/>
              </a:ext>
            </a:extLst>
          </p:cNvPr>
          <p:cNvSpPr/>
          <p:nvPr/>
        </p:nvSpPr>
        <p:spPr>
          <a:xfrm>
            <a:off x="6752425" y="6045309"/>
            <a:ext cx="254000" cy="25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05" name="Pentagon 104">
            <a:extLst>
              <a:ext uri="{FF2B5EF4-FFF2-40B4-BE49-F238E27FC236}">
                <a16:creationId xmlns:a16="http://schemas.microsoft.com/office/drawing/2014/main" id="{2C9C6856-E8C4-4667-66D3-C2BDDF19EBE9}"/>
              </a:ext>
            </a:extLst>
          </p:cNvPr>
          <p:cNvSpPr/>
          <p:nvPr/>
        </p:nvSpPr>
        <p:spPr>
          <a:xfrm>
            <a:off x="5009557" y="5732779"/>
            <a:ext cx="284913" cy="271346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DCFCDA7-9527-4972-8EFA-700610A7D54A}"/>
              </a:ext>
            </a:extLst>
          </p:cNvPr>
          <p:cNvCxnSpPr/>
          <p:nvPr/>
        </p:nvCxnSpPr>
        <p:spPr>
          <a:xfrm>
            <a:off x="4238625" y="1230436"/>
            <a:ext cx="43815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9E9F60C-BB89-F8B2-AA96-D6A8D55A72F4}"/>
              </a:ext>
            </a:extLst>
          </p:cNvPr>
          <p:cNvGrpSpPr/>
          <p:nvPr/>
        </p:nvGrpSpPr>
        <p:grpSpPr>
          <a:xfrm>
            <a:off x="1988545" y="485775"/>
            <a:ext cx="4900807" cy="300265"/>
            <a:chOff x="1988545" y="485775"/>
            <a:chExt cx="4900807" cy="30026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99E3E61D-190E-F177-41CB-A19B747F2E8D}"/>
                </a:ext>
              </a:extLst>
            </p:cNvPr>
            <p:cNvCxnSpPr>
              <a:cxnSpLocks/>
            </p:cNvCxnSpPr>
            <p:nvPr/>
          </p:nvCxnSpPr>
          <p:spPr>
            <a:xfrm>
              <a:off x="5147463" y="485775"/>
              <a:ext cx="0" cy="30026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911D479C-B96C-5FCA-4EEB-64F8BA9B45E0}"/>
                </a:ext>
              </a:extLst>
            </p:cNvPr>
            <p:cNvCxnSpPr>
              <a:cxnSpLocks/>
            </p:cNvCxnSpPr>
            <p:nvPr/>
          </p:nvCxnSpPr>
          <p:spPr>
            <a:xfrm>
              <a:off x="2007997" y="485775"/>
              <a:ext cx="0" cy="30026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F88C856-49AB-8A20-0FE0-88848E3694AF}"/>
                </a:ext>
              </a:extLst>
            </p:cNvPr>
            <p:cNvCxnSpPr>
              <a:cxnSpLocks/>
            </p:cNvCxnSpPr>
            <p:nvPr/>
          </p:nvCxnSpPr>
          <p:spPr>
            <a:xfrm>
              <a:off x="1988545" y="485775"/>
              <a:ext cx="4900807" cy="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693C4A9-A1DD-089C-F323-0210CA68D0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9900" y="485775"/>
              <a:ext cx="0" cy="20955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Pentagon 122">
            <a:extLst>
              <a:ext uri="{FF2B5EF4-FFF2-40B4-BE49-F238E27FC236}">
                <a16:creationId xmlns:a16="http://schemas.microsoft.com/office/drawing/2014/main" id="{F331B2C8-AA66-BBBF-D20C-C25B91F20385}"/>
              </a:ext>
            </a:extLst>
          </p:cNvPr>
          <p:cNvSpPr/>
          <p:nvPr/>
        </p:nvSpPr>
        <p:spPr>
          <a:xfrm>
            <a:off x="9916296" y="2247723"/>
            <a:ext cx="284913" cy="271346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DCCEC0F-A13D-4ABE-2FD1-3ACA61EBD4A0}"/>
              </a:ext>
            </a:extLst>
          </p:cNvPr>
          <p:cNvSpPr txBox="1"/>
          <p:nvPr/>
        </p:nvSpPr>
        <p:spPr>
          <a:xfrm>
            <a:off x="10283603" y="2106615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Consumer/</a:t>
            </a:r>
          </a:p>
          <a:p>
            <a:pPr algn="ctr"/>
            <a:r>
              <a:rPr lang="en-NZ" sz="1600" dirty="0"/>
              <a:t>Sensor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A0EB2A9-476C-6698-7FC1-C0C1065D8627}"/>
              </a:ext>
            </a:extLst>
          </p:cNvPr>
          <p:cNvSpPr/>
          <p:nvPr/>
        </p:nvSpPr>
        <p:spPr>
          <a:xfrm>
            <a:off x="9931752" y="2881727"/>
            <a:ext cx="254000" cy="25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2659C98-B7CE-B8BC-E185-05F2C4C39258}"/>
              </a:ext>
            </a:extLst>
          </p:cNvPr>
          <p:cNvSpPr txBox="1"/>
          <p:nvPr/>
        </p:nvSpPr>
        <p:spPr>
          <a:xfrm>
            <a:off x="10382929" y="2841682"/>
            <a:ext cx="995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Producer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C2A1560-804B-ACE8-07C9-5654ED449A21}"/>
              </a:ext>
            </a:extLst>
          </p:cNvPr>
          <p:cNvCxnSpPr/>
          <p:nvPr/>
        </p:nvCxnSpPr>
        <p:spPr>
          <a:xfrm>
            <a:off x="4238625" y="2683576"/>
            <a:ext cx="43815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F382620-E39B-CADB-9D67-8FF8562D962F}"/>
              </a:ext>
            </a:extLst>
          </p:cNvPr>
          <p:cNvCxnSpPr/>
          <p:nvPr/>
        </p:nvCxnSpPr>
        <p:spPr>
          <a:xfrm>
            <a:off x="4219873" y="4285144"/>
            <a:ext cx="43815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7A4C815D-D652-98AD-6891-D3A1ED1A3026}"/>
              </a:ext>
            </a:extLst>
          </p:cNvPr>
          <p:cNvCxnSpPr>
            <a:cxnSpLocks/>
          </p:cNvCxnSpPr>
          <p:nvPr/>
        </p:nvCxnSpPr>
        <p:spPr>
          <a:xfrm>
            <a:off x="1988545" y="3495133"/>
            <a:ext cx="0" cy="300265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48E4C72-2D7D-FB2C-B59A-5A85BF2ED052}"/>
              </a:ext>
            </a:extLst>
          </p:cNvPr>
          <p:cNvCxnSpPr>
            <a:cxnSpLocks/>
          </p:cNvCxnSpPr>
          <p:nvPr/>
        </p:nvCxnSpPr>
        <p:spPr>
          <a:xfrm>
            <a:off x="1969093" y="3495133"/>
            <a:ext cx="4900807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FFCE069-C9C1-78A6-A2D1-63A78E7E5ECF}"/>
              </a:ext>
            </a:extLst>
          </p:cNvPr>
          <p:cNvCxnSpPr>
            <a:cxnSpLocks/>
          </p:cNvCxnSpPr>
          <p:nvPr/>
        </p:nvCxnSpPr>
        <p:spPr>
          <a:xfrm>
            <a:off x="6850448" y="3495133"/>
            <a:ext cx="0" cy="20955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20AD6FF6-D7FB-6DF3-EE80-0A66D7A198AB}"/>
              </a:ext>
            </a:extLst>
          </p:cNvPr>
          <p:cNvSpPr txBox="1"/>
          <p:nvPr/>
        </p:nvSpPr>
        <p:spPr>
          <a:xfrm>
            <a:off x="7556470" y="3992756"/>
            <a:ext cx="1318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Discriminate</a:t>
            </a:r>
          </a:p>
          <a:p>
            <a:pPr algn="ctr"/>
            <a:r>
              <a:rPr lang="en-NZ" sz="1600" dirty="0"/>
              <a:t>equilibrium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57E8C01-4A3B-E77B-2FEA-CE454CA56D5C}"/>
              </a:ext>
            </a:extLst>
          </p:cNvPr>
          <p:cNvSpPr txBox="1"/>
          <p:nvPr/>
        </p:nvSpPr>
        <p:spPr>
          <a:xfrm>
            <a:off x="7485939" y="928915"/>
            <a:ext cx="1459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Indiscriminate</a:t>
            </a:r>
          </a:p>
          <a:p>
            <a:pPr algn="ctr"/>
            <a:r>
              <a:rPr lang="en-NZ" sz="1600" dirty="0"/>
              <a:t>equilibrium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0E2A1F2-64E4-9AC2-4DDA-9CED9E5F2D98}"/>
              </a:ext>
            </a:extLst>
          </p:cNvPr>
          <p:cNvSpPr txBox="1"/>
          <p:nvPr/>
        </p:nvSpPr>
        <p:spPr>
          <a:xfrm>
            <a:off x="7556471" y="2405551"/>
            <a:ext cx="1318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Discriminate</a:t>
            </a:r>
          </a:p>
          <a:p>
            <a:pPr algn="ctr"/>
            <a:r>
              <a:rPr lang="en-NZ" sz="1600" dirty="0"/>
              <a:t>gradient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219ADC8-C991-CAE4-174B-C2FDF7DA0BD2}"/>
              </a:ext>
            </a:extLst>
          </p:cNvPr>
          <p:cNvSpPr txBox="1"/>
          <p:nvPr/>
        </p:nvSpPr>
        <p:spPr>
          <a:xfrm>
            <a:off x="7485939" y="5587534"/>
            <a:ext cx="1459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dirty="0"/>
              <a:t>Indiscriminate</a:t>
            </a:r>
          </a:p>
          <a:p>
            <a:pPr algn="ctr"/>
            <a:r>
              <a:rPr lang="en-NZ" sz="1600" dirty="0"/>
              <a:t>gradient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19D0707-B66B-802E-950A-292E0ED18B4D}"/>
              </a:ext>
            </a:extLst>
          </p:cNvPr>
          <p:cNvCxnSpPr>
            <a:cxnSpLocks/>
          </p:cNvCxnSpPr>
          <p:nvPr/>
        </p:nvCxnSpPr>
        <p:spPr>
          <a:xfrm>
            <a:off x="3732407" y="485775"/>
            <a:ext cx="0" cy="20955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Picture 150" descr="A skull and crossbones on a black background&#10;&#10;AI-generated content may be incorrect.">
            <a:extLst>
              <a:ext uri="{FF2B5EF4-FFF2-40B4-BE49-F238E27FC236}">
                <a16:creationId xmlns:a16="http://schemas.microsoft.com/office/drawing/2014/main" id="{5EC80FAC-AB64-12BE-F4BE-2DC677F0D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50" y="1054424"/>
            <a:ext cx="360902" cy="346852"/>
          </a:xfrm>
          <a:prstGeom prst="rect">
            <a:avLst/>
          </a:prstGeom>
        </p:spPr>
      </p:pic>
      <p:pic>
        <p:nvPicPr>
          <p:cNvPr id="152" name="Picture 151" descr="A skull and crossbones on a black background&#10;&#10;AI-generated content may be incorrect.">
            <a:extLst>
              <a:ext uri="{FF2B5EF4-FFF2-40B4-BE49-F238E27FC236}">
                <a16:creationId xmlns:a16="http://schemas.microsoft.com/office/drawing/2014/main" id="{795A43C3-EDEE-FDC7-4C79-08617547B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50" y="5695026"/>
            <a:ext cx="360902" cy="346852"/>
          </a:xfrm>
          <a:prstGeom prst="rect">
            <a:avLst/>
          </a:prstGeom>
        </p:spPr>
      </p:pic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8BDB3E9-208B-B28C-48B0-B3306BBE036F}"/>
              </a:ext>
            </a:extLst>
          </p:cNvPr>
          <p:cNvGrpSpPr/>
          <p:nvPr/>
        </p:nvGrpSpPr>
        <p:grpSpPr>
          <a:xfrm>
            <a:off x="1944375" y="5055984"/>
            <a:ext cx="1811803" cy="300265"/>
            <a:chOff x="1944375" y="5055984"/>
            <a:chExt cx="1811803" cy="300265"/>
          </a:xfrm>
        </p:grpSpPr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9D3F39DA-43C8-7C51-7294-AC5751169B4E}"/>
                </a:ext>
              </a:extLst>
            </p:cNvPr>
            <p:cNvCxnSpPr>
              <a:cxnSpLocks/>
            </p:cNvCxnSpPr>
            <p:nvPr/>
          </p:nvCxnSpPr>
          <p:spPr>
            <a:xfrm>
              <a:off x="1969093" y="5055984"/>
              <a:ext cx="0" cy="30026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0D98FF6-3870-4A43-BC1E-603F56D1E34D}"/>
                </a:ext>
              </a:extLst>
            </p:cNvPr>
            <p:cNvCxnSpPr>
              <a:cxnSpLocks/>
            </p:cNvCxnSpPr>
            <p:nvPr/>
          </p:nvCxnSpPr>
          <p:spPr>
            <a:xfrm>
              <a:off x="3732407" y="5055984"/>
              <a:ext cx="0" cy="20955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FED43B9-E8CB-E092-3029-BD1738275871}"/>
                </a:ext>
              </a:extLst>
            </p:cNvPr>
            <p:cNvCxnSpPr>
              <a:cxnSpLocks/>
            </p:cNvCxnSpPr>
            <p:nvPr/>
          </p:nvCxnSpPr>
          <p:spPr>
            <a:xfrm>
              <a:off x="1944375" y="5055984"/>
              <a:ext cx="1811803" cy="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D08378AA-0E79-FED5-F738-4092B61037D3}"/>
              </a:ext>
            </a:extLst>
          </p:cNvPr>
          <p:cNvCxnSpPr>
            <a:cxnSpLocks/>
          </p:cNvCxnSpPr>
          <p:nvPr/>
        </p:nvCxnSpPr>
        <p:spPr>
          <a:xfrm>
            <a:off x="5102267" y="5033607"/>
            <a:ext cx="0" cy="300265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0F1657C-8BFA-F64F-F342-3FCA5B78D5FB}"/>
              </a:ext>
            </a:extLst>
          </p:cNvPr>
          <p:cNvCxnSpPr>
            <a:cxnSpLocks/>
          </p:cNvCxnSpPr>
          <p:nvPr/>
        </p:nvCxnSpPr>
        <p:spPr>
          <a:xfrm>
            <a:off x="6865581" y="5033607"/>
            <a:ext cx="0" cy="20955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CC28E72-B40B-8DEF-8C16-27A59A8E50CC}"/>
              </a:ext>
            </a:extLst>
          </p:cNvPr>
          <p:cNvCxnSpPr>
            <a:cxnSpLocks/>
          </p:cNvCxnSpPr>
          <p:nvPr/>
        </p:nvCxnSpPr>
        <p:spPr>
          <a:xfrm>
            <a:off x="5077549" y="5033607"/>
            <a:ext cx="1811803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F94BC91-2FDF-71C0-4E2A-F35E1424E0C7}"/>
              </a:ext>
            </a:extLst>
          </p:cNvPr>
          <p:cNvSpPr/>
          <p:nvPr/>
        </p:nvSpPr>
        <p:spPr>
          <a:xfrm>
            <a:off x="9612495" y="501988"/>
            <a:ext cx="2038371" cy="29270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F2A4BB8-8910-F936-CAD9-7AE7E796E56A}"/>
              </a:ext>
            </a:extLst>
          </p:cNvPr>
          <p:cNvGrpSpPr/>
          <p:nvPr/>
        </p:nvGrpSpPr>
        <p:grpSpPr>
          <a:xfrm>
            <a:off x="1963313" y="1938098"/>
            <a:ext cx="1811803" cy="300265"/>
            <a:chOff x="1944375" y="5055984"/>
            <a:chExt cx="1811803" cy="300265"/>
          </a:xfrm>
        </p:grpSpPr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22B5C639-566A-9A4F-63CF-7F30FB193BED}"/>
                </a:ext>
              </a:extLst>
            </p:cNvPr>
            <p:cNvCxnSpPr>
              <a:cxnSpLocks/>
            </p:cNvCxnSpPr>
            <p:nvPr/>
          </p:nvCxnSpPr>
          <p:spPr>
            <a:xfrm>
              <a:off x="1969093" y="5055984"/>
              <a:ext cx="0" cy="30026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6292209-DE00-7F18-4F50-8CB9562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732407" y="5055984"/>
              <a:ext cx="0" cy="20955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734C52C-61A2-D3E9-9A05-0D98F6236B9F}"/>
                </a:ext>
              </a:extLst>
            </p:cNvPr>
            <p:cNvCxnSpPr>
              <a:cxnSpLocks/>
            </p:cNvCxnSpPr>
            <p:nvPr/>
          </p:nvCxnSpPr>
          <p:spPr>
            <a:xfrm>
              <a:off x="1944375" y="5055984"/>
              <a:ext cx="1811803" cy="0"/>
            </a:xfrm>
            <a:prstGeom prst="line">
              <a:avLst/>
            </a:prstGeom>
            <a:ln w="508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66B8A6BB-6982-1259-8371-CE98892E52F8}"/>
              </a:ext>
            </a:extLst>
          </p:cNvPr>
          <p:cNvSpPr txBox="1"/>
          <p:nvPr/>
        </p:nvSpPr>
        <p:spPr>
          <a:xfrm>
            <a:off x="10196866" y="615152"/>
            <a:ext cx="860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600" b="1" dirty="0"/>
              <a:t>Legend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7C381F6-A046-01E3-9842-3C6F6DBF461E}"/>
              </a:ext>
            </a:extLst>
          </p:cNvPr>
          <p:cNvSpPr txBox="1"/>
          <p:nvPr/>
        </p:nvSpPr>
        <p:spPr>
          <a:xfrm>
            <a:off x="2485134" y="638675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Cell A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539EF59-639F-824A-3E21-F0DEA9B28E3D}"/>
              </a:ext>
            </a:extLst>
          </p:cNvPr>
          <p:cNvSpPr txBox="1"/>
          <p:nvPr/>
        </p:nvSpPr>
        <p:spPr>
          <a:xfrm>
            <a:off x="5644053" y="639261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Cell B</a:t>
            </a:r>
          </a:p>
        </p:txBody>
      </p:sp>
    </p:spTree>
    <p:extLst>
      <p:ext uri="{BB962C8B-B14F-4D97-AF65-F5344CB8AC3E}">
        <p14:creationId xmlns:p14="http://schemas.microsoft.com/office/powerpoint/2010/main" val="4276616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8101</TotalTime>
  <Words>131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Nicholas Lemzin-Abdrashitov</dc:creator>
  <cp:lastModifiedBy>Mark Nicholas Lemzin-Abdrashitov</cp:lastModifiedBy>
  <cp:revision>27</cp:revision>
  <dcterms:created xsi:type="dcterms:W3CDTF">2025-03-16T00:55:35Z</dcterms:created>
  <dcterms:modified xsi:type="dcterms:W3CDTF">2025-03-24T21:42:42Z</dcterms:modified>
</cp:coreProperties>
</file>