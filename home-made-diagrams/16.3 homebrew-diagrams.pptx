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>
        <p:scale>
          <a:sx n="85" d="100"/>
          <a:sy n="85" d="100"/>
        </p:scale>
        <p:origin x="1512" y="4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52A9C-825D-92A8-4957-4D7851BE6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1CF05F-E3CA-768B-EBE9-29A15AB79F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06A45-5F1D-E53A-5765-B0F342A5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0EDAA-5AE2-CD1F-D5D6-2A7239DAB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4B3B0-0482-C219-56BF-E4819F32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05530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0119-B76F-D494-622D-BD87E1F97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93298-A36E-9340-8E70-6B009E0B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F8325-5E7A-6EA7-ABA7-173439E2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EEC4-3AC6-509D-75ED-D3951495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5057E-51B9-5D17-2534-A8AE7DB7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4130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A3FC-867A-C01A-3F74-335ECF7F0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7508B-196A-44CF-5F1A-50C4CEB80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164B-2DDE-75EA-3A1C-E84DC1414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FE96D-611D-9FB3-F7C1-50AEBCC7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64912-AD8A-7D66-6210-42704B1D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62179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8A565-0505-9AB2-F6E4-6FF4C0AC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C424F-463F-C67D-9566-B6110CC9F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B8DD23-D048-B210-C180-74B799F7D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1F6138-5E53-92D7-0891-BC0669E7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B091D-3765-D50F-63A0-02C1A38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59AB6-B320-C517-6004-87AD29E12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33484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52ADE-5568-C010-0FEE-9A536F94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DCA95-C02B-AD4A-7A35-A59CAE865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8A873-8343-BC07-5514-72931EAFE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DA2C18-4016-3618-BB2F-AD2B472E1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5A0D6-C0FC-4C8E-18CA-E25079C77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E3A83A-31FE-9E70-46F0-D3C2AF74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F95D22-00CE-5612-1C72-B34ACB7D6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C5A9A7-C36F-BF28-1A5F-9542634D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47831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29FA-5D6A-88D1-3FCE-01E2F9503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99410F-78C6-6826-C2FF-E4D14A1DD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6E02DC-891F-01C9-0EA0-BA642E603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51C95E-949F-E739-505F-9D0176407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7080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7F6289-5690-32E2-3576-FA191A3D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254A11-8845-BF22-38DB-D99ABC36F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02E57-78C3-D107-B671-A23F3B90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054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72419-E425-101C-B32A-3B7417C0B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4CBB-A80D-E722-1595-A92D2C2E6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6DD1FB-8D18-EC3A-564A-5DD365FFB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F8F11-8C8C-8811-EC00-61B2763C6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96E8E-4649-BC53-6869-64ED27E51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E678D-F3E1-097D-F9C0-C1AAD225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85659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5244-8897-A9D5-F308-BE421453B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B062C8-F24D-53C2-BA06-A931695376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69AB-152D-2EED-F69B-093196C57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BA4DA-2773-28AB-984A-AE435A21A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336C3-AB2D-65D4-96DA-DC5F50D7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993CB4-9647-495C-DD86-D8BB9205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3962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381A6-5B5A-4A5E-1C21-5CCE7E37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17AB5B-169A-D395-8059-CBD1D08368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D73A1-4123-8250-B9C9-4D563030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703F7-368E-BFBB-6D00-5D665513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C002B-CC40-5322-0DC3-AEEF24F3C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48202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4DB7C-9FA0-DD33-194F-DC271DEAF3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17D70-1612-B4BA-D5A0-C83651DBBE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7BAD5-9410-CD5F-E2A7-669C5DEE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0D014-E5BF-EC7D-9315-A8B4D903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69781-B933-527A-7530-B13B45B3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7704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BC018F-8ECB-E09E-889A-AB559BCDC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4FC42-73E9-88CE-F340-91F4A1A69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266BA-6449-44DF-1B9E-59A6DC2A11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7E1D6-B009-14A6-4E24-3C5138C800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17BCB-CDAB-B771-A7C9-64350C69D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55267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D136E02-1959-C1D8-23AE-CFD97D72DAB9}"/>
              </a:ext>
            </a:extLst>
          </p:cNvPr>
          <p:cNvSpPr/>
          <p:nvPr/>
        </p:nvSpPr>
        <p:spPr>
          <a:xfrm>
            <a:off x="1243886" y="1269185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6964091-FE33-64B3-7A7A-1057A4FEA179}"/>
              </a:ext>
            </a:extLst>
          </p:cNvPr>
          <p:cNvSpPr/>
          <p:nvPr/>
        </p:nvSpPr>
        <p:spPr>
          <a:xfrm>
            <a:off x="3815556" y="1269185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CD1E0C-C259-C499-DF02-E5DE1F6F8B5C}"/>
              </a:ext>
            </a:extLst>
          </p:cNvPr>
          <p:cNvSpPr/>
          <p:nvPr/>
        </p:nvSpPr>
        <p:spPr>
          <a:xfrm>
            <a:off x="6530862" y="1276102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E91232-36B6-8759-566D-00ADC94A61D2}"/>
              </a:ext>
            </a:extLst>
          </p:cNvPr>
          <p:cNvSpPr/>
          <p:nvPr/>
        </p:nvSpPr>
        <p:spPr>
          <a:xfrm>
            <a:off x="1215771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1C6B52-873D-A72D-B236-0A889C6AE6D1}"/>
              </a:ext>
            </a:extLst>
          </p:cNvPr>
          <p:cNvSpPr/>
          <p:nvPr/>
        </p:nvSpPr>
        <p:spPr>
          <a:xfrm>
            <a:off x="3815555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52A53F-11F0-75CA-6AE3-925B1B52EB59}"/>
              </a:ext>
            </a:extLst>
          </p:cNvPr>
          <p:cNvSpPr/>
          <p:nvPr/>
        </p:nvSpPr>
        <p:spPr>
          <a:xfrm>
            <a:off x="6530862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85C63-990D-C156-6B48-12239BA4D605}"/>
              </a:ext>
            </a:extLst>
          </p:cNvPr>
          <p:cNvSpPr txBox="1"/>
          <p:nvPr/>
        </p:nvSpPr>
        <p:spPr>
          <a:xfrm>
            <a:off x="1444603" y="1594969"/>
            <a:ext cx="12143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1.</a:t>
            </a:r>
          </a:p>
          <a:p>
            <a:pPr algn="ctr"/>
            <a:r>
              <a:rPr lang="en-NZ" sz="1600" dirty="0"/>
              <a:t>Reversible</a:t>
            </a:r>
          </a:p>
          <a:p>
            <a:pPr algn="ctr"/>
            <a:r>
              <a:rPr lang="en-NZ" sz="1600" dirty="0"/>
              <a:t>attachment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9B4CD2-34BD-64CF-A603-CD4270B5F7F3}"/>
              </a:ext>
            </a:extLst>
          </p:cNvPr>
          <p:cNvSpPr txBox="1"/>
          <p:nvPr/>
        </p:nvSpPr>
        <p:spPr>
          <a:xfrm>
            <a:off x="3835230" y="1369202"/>
            <a:ext cx="15764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2.</a:t>
            </a:r>
          </a:p>
          <a:p>
            <a:pPr algn="ctr"/>
            <a:r>
              <a:rPr lang="en-NZ" sz="1600" dirty="0"/>
              <a:t>Irreversible</a:t>
            </a:r>
          </a:p>
          <a:p>
            <a:pPr algn="ctr"/>
            <a:r>
              <a:rPr lang="en-NZ" sz="1600" dirty="0"/>
              <a:t>attachment</a:t>
            </a:r>
          </a:p>
          <a:p>
            <a:pPr algn="ctr"/>
            <a:r>
              <a:rPr lang="en-NZ" sz="1600" dirty="0"/>
              <a:t>(microcolonies)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5C7C65-99E5-CB2E-5282-4063AAC7F53B}"/>
              </a:ext>
            </a:extLst>
          </p:cNvPr>
          <p:cNvSpPr txBox="1"/>
          <p:nvPr/>
        </p:nvSpPr>
        <p:spPr>
          <a:xfrm>
            <a:off x="6764761" y="1718079"/>
            <a:ext cx="1148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3.</a:t>
            </a:r>
          </a:p>
          <a:p>
            <a:pPr algn="ctr"/>
            <a:r>
              <a:rPr lang="en-NZ" sz="1600" dirty="0"/>
              <a:t>Maturation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154398F-7386-059A-55DB-A2D0B5D61644}"/>
              </a:ext>
            </a:extLst>
          </p:cNvPr>
          <p:cNvSpPr/>
          <p:nvPr/>
        </p:nvSpPr>
        <p:spPr>
          <a:xfrm>
            <a:off x="9164738" y="1276102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F97914-B2F8-2055-F760-133A0C50405E}"/>
              </a:ext>
            </a:extLst>
          </p:cNvPr>
          <p:cNvSpPr/>
          <p:nvPr/>
        </p:nvSpPr>
        <p:spPr>
          <a:xfrm>
            <a:off x="9164738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31E1B0-606E-7C5F-E3AB-9675BDDBDDC9}"/>
              </a:ext>
            </a:extLst>
          </p:cNvPr>
          <p:cNvSpPr txBox="1"/>
          <p:nvPr/>
        </p:nvSpPr>
        <p:spPr>
          <a:xfrm>
            <a:off x="9377863" y="1718078"/>
            <a:ext cx="11895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4.</a:t>
            </a:r>
          </a:p>
          <a:p>
            <a:pPr algn="ctr"/>
            <a:r>
              <a:rPr lang="en-NZ" sz="1600" dirty="0"/>
              <a:t>Dissipation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7BE8332-E929-B4C7-8E62-1E8C99299AAA}"/>
              </a:ext>
            </a:extLst>
          </p:cNvPr>
          <p:cNvSpPr/>
          <p:nvPr/>
        </p:nvSpPr>
        <p:spPr>
          <a:xfrm>
            <a:off x="1114792" y="3108102"/>
            <a:ext cx="9829366" cy="938150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DA1D7-DD7F-EB0D-089C-32B7CDCEF414}"/>
              </a:ext>
            </a:extLst>
          </p:cNvPr>
          <p:cNvSpPr txBox="1"/>
          <p:nvPr/>
        </p:nvSpPr>
        <p:spPr>
          <a:xfrm>
            <a:off x="4894016" y="3392511"/>
            <a:ext cx="2406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c) Unclassified genes?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9BAA7D-54CF-703D-86B3-0A9088D1EFC0}"/>
              </a:ext>
            </a:extLst>
          </p:cNvPr>
          <p:cNvSpPr txBox="1"/>
          <p:nvPr/>
        </p:nvSpPr>
        <p:spPr>
          <a:xfrm>
            <a:off x="11332559" y="4794680"/>
            <a:ext cx="436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Pa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8F9B9A-AF40-A294-E4AC-CA77167CDD35}"/>
              </a:ext>
            </a:extLst>
          </p:cNvPr>
          <p:cNvSpPr txBox="1"/>
          <p:nvPr/>
        </p:nvSpPr>
        <p:spPr>
          <a:xfrm>
            <a:off x="11331213" y="189242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Sa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9066965-29D5-5BB9-DC3F-89EA6661EADD}"/>
              </a:ext>
            </a:extLst>
          </p:cNvPr>
          <p:cNvCxnSpPr/>
          <p:nvPr/>
        </p:nvCxnSpPr>
        <p:spPr>
          <a:xfrm>
            <a:off x="11551789" y="2528226"/>
            <a:ext cx="0" cy="1817511"/>
          </a:xfrm>
          <a:prstGeom prst="straightConnector1">
            <a:avLst/>
          </a:prstGeom>
          <a:ln w="3810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C6049CC-365A-0ED7-541C-6FF1B02E01F9}"/>
              </a:ext>
            </a:extLst>
          </p:cNvPr>
          <p:cNvSpPr txBox="1"/>
          <p:nvPr/>
        </p:nvSpPr>
        <p:spPr>
          <a:xfrm rot="5400000">
            <a:off x="10823260" y="3307810"/>
            <a:ext cx="2102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i="1" dirty="0"/>
              <a:t>b) Strain coevolution?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013D25-E6E5-CC3F-5E00-033CF0F546AF}"/>
              </a:ext>
            </a:extLst>
          </p:cNvPr>
          <p:cNvCxnSpPr>
            <a:cxnSpLocks/>
          </p:cNvCxnSpPr>
          <p:nvPr/>
        </p:nvCxnSpPr>
        <p:spPr>
          <a:xfrm flipH="1">
            <a:off x="1961877" y="6287426"/>
            <a:ext cx="8141679" cy="0"/>
          </a:xfrm>
          <a:prstGeom prst="straightConnector1">
            <a:avLst/>
          </a:prstGeom>
          <a:ln w="38100">
            <a:solidFill>
              <a:srgbClr val="002060"/>
            </a:solidFill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F7FD21F-EADE-4B5B-DC0A-B2D2DC7C6FF2}"/>
              </a:ext>
            </a:extLst>
          </p:cNvPr>
          <p:cNvSpPr txBox="1"/>
          <p:nvPr/>
        </p:nvSpPr>
        <p:spPr>
          <a:xfrm>
            <a:off x="4681965" y="6389057"/>
            <a:ext cx="2656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a</a:t>
            </a:r>
            <a:r>
              <a:rPr lang="en-NZ" sz="1800" i="1" dirty="0"/>
              <a:t>) Parallel development?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7B4CBF-33AF-078D-895A-AED1F0B7DEF2}"/>
              </a:ext>
            </a:extLst>
          </p:cNvPr>
          <p:cNvCxnSpPr/>
          <p:nvPr/>
        </p:nvCxnSpPr>
        <p:spPr>
          <a:xfrm>
            <a:off x="3352800" y="1010465"/>
            <a:ext cx="0" cy="4933244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96EA6B5-F415-583D-28DD-358B191C7F30}"/>
              </a:ext>
            </a:extLst>
          </p:cNvPr>
          <p:cNvSpPr txBox="1"/>
          <p:nvPr/>
        </p:nvSpPr>
        <p:spPr>
          <a:xfrm>
            <a:off x="2023674" y="508817"/>
            <a:ext cx="2644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d) Developmental gates?</a:t>
            </a:r>
          </a:p>
        </p:txBody>
      </p:sp>
    </p:spTree>
    <p:extLst>
      <p:ext uri="{BB962C8B-B14F-4D97-AF65-F5344CB8AC3E}">
        <p14:creationId xmlns:p14="http://schemas.microsoft.com/office/powerpoint/2010/main" val="2913039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80D1F9F-CFDA-FB7F-640F-9815C6992CB5}"/>
              </a:ext>
            </a:extLst>
          </p:cNvPr>
          <p:cNvSpPr/>
          <p:nvPr/>
        </p:nvSpPr>
        <p:spPr>
          <a:xfrm>
            <a:off x="6096002" y="3428999"/>
            <a:ext cx="2640804" cy="2486025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6961D-4BE7-1B5B-C117-450741558F75}"/>
              </a:ext>
            </a:extLst>
          </p:cNvPr>
          <p:cNvSpPr/>
          <p:nvPr/>
        </p:nvSpPr>
        <p:spPr>
          <a:xfrm>
            <a:off x="3455192" y="3429000"/>
            <a:ext cx="2640804" cy="24860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C4848-67EC-F10E-9089-68761C70B02C}"/>
              </a:ext>
            </a:extLst>
          </p:cNvPr>
          <p:cNvSpPr/>
          <p:nvPr/>
        </p:nvSpPr>
        <p:spPr>
          <a:xfrm>
            <a:off x="3455193" y="942972"/>
            <a:ext cx="2640807" cy="24860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6EB03-C2C7-CEDF-BDFC-05DDB89C5B47}"/>
              </a:ext>
            </a:extLst>
          </p:cNvPr>
          <p:cNvSpPr/>
          <p:nvPr/>
        </p:nvSpPr>
        <p:spPr>
          <a:xfrm>
            <a:off x="6096000" y="942975"/>
            <a:ext cx="2640807" cy="24860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ACD6E3-FA7C-F213-5A59-94785F205FC0}"/>
              </a:ext>
            </a:extLst>
          </p:cNvPr>
          <p:cNvCxnSpPr>
            <a:cxnSpLocks/>
          </p:cNvCxnSpPr>
          <p:nvPr/>
        </p:nvCxnSpPr>
        <p:spPr>
          <a:xfrm>
            <a:off x="6096000" y="942975"/>
            <a:ext cx="0" cy="497205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2192BA-028C-EF6F-B36B-F007EF60F5D3}"/>
              </a:ext>
            </a:extLst>
          </p:cNvPr>
          <p:cNvCxnSpPr>
            <a:cxnSpLocks/>
          </p:cNvCxnSpPr>
          <p:nvPr/>
        </p:nvCxnSpPr>
        <p:spPr>
          <a:xfrm>
            <a:off x="3455193" y="3429000"/>
            <a:ext cx="5281613" cy="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963B1E-8370-F9FA-3054-0C3BC29B079C}"/>
              </a:ext>
            </a:extLst>
          </p:cNvPr>
          <p:cNvSpPr txBox="1"/>
          <p:nvPr/>
        </p:nvSpPr>
        <p:spPr>
          <a:xfrm>
            <a:off x="3998779" y="5409141"/>
            <a:ext cx="15536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Mutualism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A742F3-852D-F9FF-90DF-5D2557EE045E}"/>
              </a:ext>
            </a:extLst>
          </p:cNvPr>
          <p:cNvSpPr txBox="1"/>
          <p:nvPr/>
        </p:nvSpPr>
        <p:spPr>
          <a:xfrm>
            <a:off x="6558154" y="5409141"/>
            <a:ext cx="17164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Antagonism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FE332-2A34-4475-4DEE-00ADB708252E}"/>
              </a:ext>
            </a:extLst>
          </p:cNvPr>
          <p:cNvSpPr txBox="1"/>
          <p:nvPr/>
        </p:nvSpPr>
        <p:spPr>
          <a:xfrm>
            <a:off x="4004806" y="2909893"/>
            <a:ext cx="15476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Parasitism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807D65-6457-2005-342C-44D4711E6D16}"/>
              </a:ext>
            </a:extLst>
          </p:cNvPr>
          <p:cNvSpPr txBox="1"/>
          <p:nvPr/>
        </p:nvSpPr>
        <p:spPr>
          <a:xfrm>
            <a:off x="6427101" y="2909894"/>
            <a:ext cx="197053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Predator/Prey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BC9F8-C3D9-6262-515C-775904F56A97}"/>
              </a:ext>
            </a:extLst>
          </p:cNvPr>
          <p:cNvSpPr txBox="1"/>
          <p:nvPr/>
        </p:nvSpPr>
        <p:spPr>
          <a:xfrm>
            <a:off x="8809751" y="3213556"/>
            <a:ext cx="1247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die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9EEFF-46C8-610F-6ABA-4CDEA028C17F}"/>
              </a:ext>
            </a:extLst>
          </p:cNvPr>
          <p:cNvSpPr txBox="1"/>
          <p:nvPr/>
        </p:nvSpPr>
        <p:spPr>
          <a:xfrm>
            <a:off x="2094266" y="3213556"/>
            <a:ext cx="12879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live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899F8B-EDA5-8A5B-070C-001DFB96C3D1}"/>
              </a:ext>
            </a:extLst>
          </p:cNvPr>
          <p:cNvSpPr txBox="1"/>
          <p:nvPr/>
        </p:nvSpPr>
        <p:spPr>
          <a:xfrm>
            <a:off x="5499230" y="6003242"/>
            <a:ext cx="119353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Bilateral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C83CAD-C0C7-8780-DBC6-4375C29C4C96}"/>
              </a:ext>
            </a:extLst>
          </p:cNvPr>
          <p:cNvSpPr txBox="1"/>
          <p:nvPr/>
        </p:nvSpPr>
        <p:spPr>
          <a:xfrm>
            <a:off x="5410263" y="423871"/>
            <a:ext cx="13714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Unilateral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A382F4-323D-82F6-AE08-C05B2B9396DF}"/>
              </a:ext>
            </a:extLst>
          </p:cNvPr>
          <p:cNvSpPr/>
          <p:nvPr/>
        </p:nvSpPr>
        <p:spPr>
          <a:xfrm>
            <a:off x="5138329" y="2299665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16D63E7-5126-94CE-0860-D6FC75EC2CDD}"/>
              </a:ext>
            </a:extLst>
          </p:cNvPr>
          <p:cNvSpPr/>
          <p:nvPr/>
        </p:nvSpPr>
        <p:spPr>
          <a:xfrm rot="2410699">
            <a:off x="4197334" y="1358764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5FB10D-6FC6-9F2C-2622-9FFA2A5385BC}"/>
              </a:ext>
            </a:extLst>
          </p:cNvPr>
          <p:cNvCxnSpPr>
            <a:cxnSpLocks/>
          </p:cNvCxnSpPr>
          <p:nvPr/>
        </p:nvCxnSpPr>
        <p:spPr>
          <a:xfrm>
            <a:off x="4666390" y="2034164"/>
            <a:ext cx="249140" cy="214185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783855-ED44-C00F-ED31-686747714DE8}"/>
              </a:ext>
            </a:extLst>
          </p:cNvPr>
          <p:cNvCxnSpPr>
            <a:cxnSpLocks/>
          </p:cNvCxnSpPr>
          <p:nvPr/>
        </p:nvCxnSpPr>
        <p:spPr>
          <a:xfrm flipV="1">
            <a:off x="4894784" y="2190859"/>
            <a:ext cx="110655" cy="128309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189144-54A9-62A1-5DAC-4DDD7F857F31}"/>
              </a:ext>
            </a:extLst>
          </p:cNvPr>
          <p:cNvCxnSpPr>
            <a:cxnSpLocks/>
          </p:cNvCxnSpPr>
          <p:nvPr/>
        </p:nvCxnSpPr>
        <p:spPr>
          <a:xfrm>
            <a:off x="4504647" y="4572359"/>
            <a:ext cx="385564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1BF447F-54D6-EFE8-3909-B84A1EB28155}"/>
              </a:ext>
            </a:extLst>
          </p:cNvPr>
          <p:cNvCxnSpPr>
            <a:cxnSpLocks/>
          </p:cNvCxnSpPr>
          <p:nvPr/>
        </p:nvCxnSpPr>
        <p:spPr>
          <a:xfrm flipH="1">
            <a:off x="4520685" y="4828391"/>
            <a:ext cx="367652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B1A71BE-DB75-5056-140D-2813D8C0F309}"/>
              </a:ext>
            </a:extLst>
          </p:cNvPr>
          <p:cNvSpPr/>
          <p:nvPr/>
        </p:nvSpPr>
        <p:spPr>
          <a:xfrm>
            <a:off x="3979332" y="451618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6EB2DC-3437-8B9B-5C6F-7501FC0C9A38}"/>
              </a:ext>
            </a:extLst>
          </p:cNvPr>
          <p:cNvSpPr/>
          <p:nvPr/>
        </p:nvSpPr>
        <p:spPr>
          <a:xfrm>
            <a:off x="5034966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DE2D853-9363-834B-8B1E-2D18A88EEA67}"/>
              </a:ext>
            </a:extLst>
          </p:cNvPr>
          <p:cNvSpPr/>
          <p:nvPr/>
        </p:nvSpPr>
        <p:spPr>
          <a:xfrm>
            <a:off x="6915570" y="233449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9CFE9DD-E657-0F01-C23F-5CB3CB4862F9}"/>
              </a:ext>
            </a:extLst>
          </p:cNvPr>
          <p:cNvSpPr/>
          <p:nvPr/>
        </p:nvSpPr>
        <p:spPr>
          <a:xfrm rot="18900000">
            <a:off x="7732757" y="1312073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BA7F050-E361-B50E-7BAD-7C7D0042660B}"/>
              </a:ext>
            </a:extLst>
          </p:cNvPr>
          <p:cNvCxnSpPr>
            <a:cxnSpLocks/>
          </p:cNvCxnSpPr>
          <p:nvPr/>
        </p:nvCxnSpPr>
        <p:spPr>
          <a:xfrm flipV="1">
            <a:off x="7307197" y="1848771"/>
            <a:ext cx="271459" cy="330857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8E5CA21-1299-D5DC-F57B-6F4C160F4020}"/>
              </a:ext>
            </a:extLst>
          </p:cNvPr>
          <p:cNvCxnSpPr>
            <a:cxnSpLocks/>
          </p:cNvCxnSpPr>
          <p:nvPr/>
        </p:nvCxnSpPr>
        <p:spPr>
          <a:xfrm>
            <a:off x="7234233" y="2132576"/>
            <a:ext cx="135899" cy="110211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AEB405D6-305F-0805-983B-742215118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69" y="2342977"/>
            <a:ext cx="360902" cy="346852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B51F419A-C367-EFCD-8AA8-72F1E9DF88DF}"/>
              </a:ext>
            </a:extLst>
          </p:cNvPr>
          <p:cNvSpPr/>
          <p:nvPr/>
        </p:nvSpPr>
        <p:spPr>
          <a:xfrm>
            <a:off x="7794853" y="453593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9B04BB0-BF34-F056-AB09-C29123AC5C80}"/>
              </a:ext>
            </a:extLst>
          </p:cNvPr>
          <p:cNvCxnSpPr>
            <a:cxnSpLocks/>
          </p:cNvCxnSpPr>
          <p:nvPr/>
        </p:nvCxnSpPr>
        <p:spPr>
          <a:xfrm>
            <a:off x="4777520" y="1795613"/>
            <a:ext cx="345182" cy="278429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6837ACBC-64C7-49D8-12CA-B8351F07EA87}"/>
              </a:ext>
            </a:extLst>
          </p:cNvPr>
          <p:cNvSpPr/>
          <p:nvPr/>
        </p:nvSpPr>
        <p:spPr>
          <a:xfrm>
            <a:off x="6676240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6837DC1-7A60-FFBC-3E0D-B2038EFE2218}"/>
              </a:ext>
            </a:extLst>
          </p:cNvPr>
          <p:cNvCxnSpPr>
            <a:cxnSpLocks/>
          </p:cNvCxnSpPr>
          <p:nvPr/>
        </p:nvCxnSpPr>
        <p:spPr>
          <a:xfrm>
            <a:off x="7282167" y="4581289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AA078CF-AC07-E496-5AF2-E4CE1E3F33BE}"/>
              </a:ext>
            </a:extLst>
          </p:cNvPr>
          <p:cNvCxnSpPr>
            <a:cxnSpLocks/>
          </p:cNvCxnSpPr>
          <p:nvPr/>
        </p:nvCxnSpPr>
        <p:spPr>
          <a:xfrm>
            <a:off x="7296824" y="4828391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8878255-1B4E-C372-A6C6-2E18A7855136}"/>
              </a:ext>
            </a:extLst>
          </p:cNvPr>
          <p:cNvCxnSpPr>
            <a:cxnSpLocks/>
          </p:cNvCxnSpPr>
          <p:nvPr/>
        </p:nvCxnSpPr>
        <p:spPr>
          <a:xfrm flipV="1">
            <a:off x="7276471" y="4496159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D0C5E79-D825-7071-34F3-DD60E7BE53EB}"/>
              </a:ext>
            </a:extLst>
          </p:cNvPr>
          <p:cNvCxnSpPr>
            <a:cxnSpLocks/>
          </p:cNvCxnSpPr>
          <p:nvPr/>
        </p:nvCxnSpPr>
        <p:spPr>
          <a:xfrm flipV="1">
            <a:off x="7574702" y="4752191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3835448D-5A3E-69A6-4E03-60BFC349C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189" y="4508572"/>
            <a:ext cx="360902" cy="346852"/>
          </a:xfrm>
          <a:prstGeom prst="rect">
            <a:avLst/>
          </a:prstGeom>
        </p:spPr>
      </p:pic>
      <p:pic>
        <p:nvPicPr>
          <p:cNvPr id="57" name="Picture 56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46C60412-92E0-19DD-7020-699976880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4852" y="4535935"/>
            <a:ext cx="360902" cy="346852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F4400D9-2262-55AE-A6A0-58E45724A46F}"/>
              </a:ext>
            </a:extLst>
          </p:cNvPr>
          <p:cNvCxnSpPr>
            <a:cxnSpLocks/>
          </p:cNvCxnSpPr>
          <p:nvPr/>
        </p:nvCxnSpPr>
        <p:spPr>
          <a:xfrm flipH="1">
            <a:off x="7454465" y="1992025"/>
            <a:ext cx="321327" cy="391312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992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BA1DE30D-CE9A-6C73-19D9-DA55B177DF8C}"/>
              </a:ext>
            </a:extLst>
          </p:cNvPr>
          <p:cNvSpPr/>
          <p:nvPr/>
        </p:nvSpPr>
        <p:spPr>
          <a:xfrm rot="16200000">
            <a:off x="3610146" y="2102606"/>
            <a:ext cx="2682625" cy="735189"/>
          </a:xfrm>
          <a:prstGeom prst="rightArrow">
            <a:avLst/>
          </a:prstGeom>
          <a:gradFill flip="none" rotWithShape="1">
            <a:gsLst>
              <a:gs pos="0">
                <a:srgbClr val="00206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6C44CB-9B18-7C6C-F594-14E2357BDA83}"/>
              </a:ext>
            </a:extLst>
          </p:cNvPr>
          <p:cNvSpPr txBox="1"/>
          <p:nvPr/>
        </p:nvSpPr>
        <p:spPr>
          <a:xfrm>
            <a:off x="6079914" y="3579292"/>
            <a:ext cx="2482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Evolutionary theory:</a:t>
            </a:r>
          </a:p>
          <a:p>
            <a:pPr algn="ctr"/>
            <a:r>
              <a:rPr lang="en-NZ" b="1" dirty="0"/>
              <a:t>Extent of co-evolution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15363-E156-D932-2109-C258B1F8F449}"/>
              </a:ext>
            </a:extLst>
          </p:cNvPr>
          <p:cNvSpPr txBox="1"/>
          <p:nvPr/>
        </p:nvSpPr>
        <p:spPr>
          <a:xfrm>
            <a:off x="6242137" y="2192506"/>
            <a:ext cx="21579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Ecological theory:</a:t>
            </a:r>
          </a:p>
          <a:p>
            <a:pPr algn="ctr"/>
            <a:r>
              <a:rPr lang="en-NZ" b="1" dirty="0"/>
              <a:t>Recognition of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6D3258-D691-A2F0-7922-4C7F833CC344}"/>
              </a:ext>
            </a:extLst>
          </p:cNvPr>
          <p:cNvSpPr txBox="1"/>
          <p:nvPr/>
        </p:nvSpPr>
        <p:spPr>
          <a:xfrm>
            <a:off x="1954964" y="4639733"/>
            <a:ext cx="82820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i="1" dirty="0"/>
              <a:t>It is not a good idea to use both ecological and evolutionary theory, simultaneously,</a:t>
            </a:r>
          </a:p>
          <a:p>
            <a:pPr algn="ctr"/>
            <a:r>
              <a:rPr lang="en-NZ" i="1" dirty="0"/>
              <a:t>to predict clinical phenotypes. This could lead to logical confounding.</a:t>
            </a:r>
          </a:p>
          <a:p>
            <a:pPr algn="ctr"/>
            <a:endParaRPr lang="en-NZ" i="1" dirty="0"/>
          </a:p>
          <a:p>
            <a:pPr algn="ctr"/>
            <a:r>
              <a:rPr lang="en-NZ" i="1" dirty="0"/>
              <a:t>I want to focus on ecological theory, as it seems underexplored.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D44F29-BEEC-1A69-0E0E-F6B2CDA8EA02}"/>
              </a:ext>
            </a:extLst>
          </p:cNvPr>
          <p:cNvSpPr txBox="1"/>
          <p:nvPr/>
        </p:nvSpPr>
        <p:spPr>
          <a:xfrm>
            <a:off x="5952156" y="805721"/>
            <a:ext cx="2737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Molecular microbiology:</a:t>
            </a:r>
          </a:p>
          <a:p>
            <a:pPr algn="ctr"/>
            <a:r>
              <a:rPr lang="en-NZ" b="1" dirty="0"/>
              <a:t>Biofilm phenotypes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FF34A7-9146-08AB-9F2C-587F5A8731DF}"/>
              </a:ext>
            </a:extLst>
          </p:cNvPr>
          <p:cNvSpPr txBox="1"/>
          <p:nvPr/>
        </p:nvSpPr>
        <p:spPr>
          <a:xfrm rot="16200000">
            <a:off x="3480248" y="2331006"/>
            <a:ext cx="1310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i="1" dirty="0"/>
              <a:t>Complexity</a:t>
            </a:r>
          </a:p>
        </p:txBody>
      </p:sp>
    </p:spTree>
    <p:extLst>
      <p:ext uri="{BB962C8B-B14F-4D97-AF65-F5344CB8AC3E}">
        <p14:creationId xmlns:p14="http://schemas.microsoft.com/office/powerpoint/2010/main" val="170102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6601</TotalTime>
  <Words>110</Words>
  <Application>Microsoft Office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Nicholas Lemzin-Abdrashitov</dc:creator>
  <cp:lastModifiedBy>Mark Nicholas Lemzin-Abdrashitov</cp:lastModifiedBy>
  <cp:revision>16</cp:revision>
  <dcterms:created xsi:type="dcterms:W3CDTF">2025-03-16T00:55:35Z</dcterms:created>
  <dcterms:modified xsi:type="dcterms:W3CDTF">2025-03-23T20:42:19Z</dcterms:modified>
</cp:coreProperties>
</file>